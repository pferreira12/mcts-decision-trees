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1"/>
  <c:style val="2"/>
  <c:chart>
    <c:autoTitleDeleted val="1"/>
    <c:plotArea>
      <c:layout/>
      <c:barChart>
        <c:barDir val="col"/>
        <c:grouping val="clustered"/>
        <c:varyColors val="1"/>
        <c:ser>
          <c:idx val="0"/>
          <c:order val="0"/>
          <c:tx>
            <c:strRef>
              <c:f>Sheet1!$B$1</c:f>
              <c:strCache>
                <c:ptCount val="1"/>
                <c:pt idx="0">
                  <c:v>Vitórias no Torneio</c:v>
                </c:pt>
              </c:strCache>
            </c:strRef>
          </c:tx>
          <c:invertIfNegative val="1"/>
          <c:dPt>
            <c:idx val="0"/>
            <c:invertIfNegative val="1"/>
            <c:bubble3D val="0"/>
            <c:spPr>
              <a:solidFill>
                <a:srgbClr val="1A73E8"/>
              </a:solidFill>
            </c:spPr>
            <c:extLst>
              <c:ext xmlns:c16="http://schemas.microsoft.com/office/drawing/2014/chart" uri="{C3380CC4-5D6E-409C-BE32-E72D297353CC}">
                <c16:uniqueId val="{00000001-3EDC-485F-8EE5-4185B5CC005D}"/>
              </c:ext>
            </c:extLst>
          </c:dPt>
          <c:dPt>
            <c:idx val="1"/>
            <c:invertIfNegative val="1"/>
            <c:bubble3D val="0"/>
            <c:spPr>
              <a:solidFill>
                <a:srgbClr val="FF8C00"/>
              </a:solidFill>
            </c:spPr>
            <c:extLst>
              <c:ext xmlns:c16="http://schemas.microsoft.com/office/drawing/2014/chart" uri="{C3380CC4-5D6E-409C-BE32-E72D297353CC}">
                <c16:uniqueId val="{00000003-3EDC-485F-8EE5-4185B5CC005D}"/>
              </c:ext>
            </c:extLst>
          </c:dPt>
          <c:dPt>
            <c:idx val="2"/>
            <c:invertIfNegative val="1"/>
            <c:bubble3D val="0"/>
            <c:spPr>
              <a:solidFill>
                <a:srgbClr val="06B574"/>
              </a:solidFill>
            </c:spPr>
            <c:extLst>
              <c:ext xmlns:c16="http://schemas.microsoft.com/office/drawing/2014/chart" uri="{C3380CC4-5D6E-409C-BE32-E72D297353CC}">
                <c16:uniqueId val="{00000005-3EDC-485F-8EE5-4185B5CC005D}"/>
              </c:ext>
            </c:extLst>
          </c:dPt>
          <c:dPt>
            <c:idx val="3"/>
            <c:invertIfNegative val="1"/>
            <c:bubble3D val="0"/>
            <c:spPr>
              <a:solidFill>
                <a:srgbClr val="FF4444"/>
              </a:solidFill>
            </c:spPr>
            <c:extLst>
              <c:ext xmlns:c16="http://schemas.microsoft.com/office/drawing/2014/chart" uri="{C3380CC4-5D6E-409C-BE32-E72D297353CC}">
                <c16:uniqueId val="{00000007-3EDC-485F-8EE5-4185B5CC005D}"/>
              </c:ext>
            </c:extLst>
          </c:dPt>
          <c:cat>
            <c:strRef>
              <c:f>Sheet1!$A$2:$A$5</c:f>
              <c:strCache>
                <c:ptCount val="4"/>
                <c:pt idx="0">
                  <c:v>Standard UCT</c:v>
                </c:pt>
                <c:pt idx="1">
                  <c:v>RAVE</c:v>
                </c:pt>
                <c:pt idx="2">
                  <c:v>Top-K</c:v>
                </c:pt>
                <c:pt idx="3">
                  <c:v>Heurístico</c:v>
                </c:pt>
              </c:strCache>
            </c:strRef>
          </c:cat>
          <c:val>
            <c:numRef>
              <c:f>Sheet1!$B$2:$B$5</c:f>
              <c:numCache>
                <c:formatCode>General</c:formatCode>
                <c:ptCount val="4"/>
                <c:pt idx="0">
                  <c:v>18</c:v>
                </c:pt>
                <c:pt idx="1">
                  <c:v>22</c:v>
                </c:pt>
                <c:pt idx="2">
                  <c:v>24</c:v>
                </c:pt>
                <c:pt idx="3">
                  <c:v>36</c:v>
                </c:pt>
              </c:numCache>
            </c:numRef>
          </c:val>
          <c:extLst>
            <c:ext xmlns:c16="http://schemas.microsoft.com/office/drawing/2014/chart" uri="{C3380CC4-5D6E-409C-BE32-E72D297353CC}">
              <c16:uniqueId val="{00000008-3EDC-485F-8EE5-4185B5CC005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909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Bom dia/Boa tarde. Vou apresentar o nosso projeto de Inteligência Artificial, que combina duas grandes áreas: o Monte Carlo Tree Search para jogar PopOut, uma variante do Connect 4, e uma Decision Tree ID3 implementada de raiz para aprender com as jogadas do melhor agente. Ao longo de 10 minutos vou explicar as regras do jogo, como implementámos os agentes, os resultados obtidos e o que aprendemos.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projeto tem três grandes pilares. Primeiro, implementámos o jogo PopOut do zero. Depois, criámos quatro variantes de agentes MCTS e fizemos torneios para ver qual é o melhor. Por fim, usámos esse agente para gerar dados e treinar uma Decision Tree ID3, implementada manualmente sem o sklearn. O objetivo é fechar o ciclo completo, desde o jogo até à aprendizagem supervisionada.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PopOut é uma extensão do Connect 4 clássico. As regras são quase as mesmas: tabuleiro 6 por 7, objetivo de alinhar 4 peças. A grande diferença é o movimento POP: um jogador pode retirar uma das suas próprias peças da base de uma coluna, fazendo com que todas as peças acima desçam. Isto cria situações estratégicas completamente novas e aumenta o espaço de ações para 14 por turno.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Aqui está o pipeline completo do projeto. Começámos por implementar o motor do jogo PopOut. Depois construímos os quatro agentes MCTS. Realizámos torneios para identificar o melhor agente. Com esse agente gerámos um dataset de 12 320 posições. Finalmente, treinámos e avaliámos uma Decision Tree ID3 sobre esse dataset. Tudo em Python, sem bibliotecas de alto nível para a parte de aprendizagem.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MCTS é um algoritmo de busca em árvore que usa simulações aleatórias. A fórmula UCT equilibra exploração de novos caminhos com explotação dos melhores conhecidos. Implementámos quatro variantes: o UCT standard como base; o RAVE que partilha estatísticas entre ações semelhantes; o Top-K que restringe a expansão aos melhores movimentos; e o Heurístico, que incorpora avaliação do tabuleiro nas simulações. O Heurístico foi a nossa aposta mais sofisticada.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Nos torneios round-robin, onde cada agente jogou contra todos os outros, o Heurístico MCTS saiu claramente vencedor. O Top-K ficou em segundo lugar, superando o RAVE — o que sugere que limitar o espaço de busca a movimentos promissores é mais eficaz do que partilhar estatísticas globalmente. O Standard UCT serviu como baseline. Com base nestes resultados, escolhemos o Heurístico para gerar o dataset do ID3.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gerar o dataset, deixámos o Heurístico MCTS jogar muitas partidas contra si próprio. A cada estado do jogo, registámos as 42 células do tabuleiro mais o jogador atual, totalizando 43 atributos. A etiqueta de cada exemplo é a ação que o agente escolheu. No final, obtivemos 12 320 posições únicas com 14 classes possíveis — as 7 colunas para drop e as 7 colunas para pop.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ID3 foi implementado completamente de raiz. O algoritmo calcula a entropia de Shannon em cada nó, escolhe o atributo com maior Information Gain para dividir, e repete recursivamente. Para o dataset PopOut, os atributos são todos discretos — 0, 1 ou 2. Para o Iris, implementámos thresholds numéricos manualmente. A árvore final do PopOut tem profundidade 6 e 305 nós.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Os resultados do ID3 no PopOut mostram que conseguimos mais do dobro da baseline. O baseline de maioria é apenas 14,66% porque há 14 classes. Atingimos 31,71% de accuracy bruta, e 31,95% quando filtramos apenas ações legais. Não é perfeito, mas o problema é muito difícil: o tabuleiro de Connect 4 tem um espaço de estados enorme. No Iris, conseguimos 93,33% de accuracy, o que confirma que o algoritmo está implementado corretamente — o Iris é um problema mais simples com apenas 3 classes e 4 atributos contínuos.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termos de conclusões, mostrámos que é possível construir um pipeline completo de IA para jogos — desde o motor do jogo, passando por agentes MCTS avançados, até uma árvore de decisão treinada com os dados gerados. As principais limitações são a falta de feature engineering e o facto de o dataset ser gerado por um único agente, o que introduz viés. O ID3 clássico também tem limitações inerentes quando se trata de atributos com muitos valores.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7772400" y="0"/>
            <a:ext cx="44165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0" y="0"/>
            <a:ext cx="54864"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321040" y="36576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869680" y="3657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418319" y="3657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966959" y="36576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515600" y="3657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64240" y="3657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321040" y="11887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869680" y="11887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418319" y="118872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966959" y="11887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515600" y="11887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064240" y="118872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21040" y="201168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869680" y="201168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418319" y="201168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966959" y="201168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15600" y="201168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064240" y="201168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21040" y="283464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869680" y="283464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418319" y="283464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966959" y="283464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515600" y="283464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64240" y="283464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21040" y="365760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869680" y="365760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418319" y="365760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966959" y="365760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515600" y="365760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1064240" y="365760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321040" y="44805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869680" y="448056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418319" y="44805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966959" y="44805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515600" y="448056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064240" y="448056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321040" y="530352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869680" y="53035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418319" y="53035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966959" y="5303520"/>
            <a:ext cx="384048"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515600" y="53035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1064240" y="5303520"/>
            <a:ext cx="384048" cy="384048"/>
          </a:xfrm>
          <a:prstGeom prst="rect">
            <a:avLst/>
          </a:prstGeom>
          <a:solidFill>
            <a:srgbClr val="1E4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7200" y="731520"/>
            <a:ext cx="7132320" cy="457200"/>
          </a:xfrm>
          <a:prstGeom prst="rect">
            <a:avLst/>
          </a:prstGeom>
          <a:noFill/>
        </p:spPr>
        <p:txBody>
          <a:bodyPr wrap="square">
            <a:spAutoFit/>
          </a:bodyPr>
          <a:lstStyle/>
          <a:p>
            <a:pPr algn="l"/>
            <a:r>
              <a:rPr sz="1200" b="1" i="0">
                <a:solidFill>
                  <a:srgbClr val="00B4D8"/>
                </a:solidFill>
                <a:latin typeface="Calibri"/>
              </a:rPr>
              <a:t>INTELIGÊNCIA ARTIFICIAL</a:t>
            </a:r>
          </a:p>
        </p:txBody>
      </p:sp>
      <p:sp>
        <p:nvSpPr>
          <p:cNvPr id="47" name="TextBox 46"/>
          <p:cNvSpPr txBox="1"/>
          <p:nvPr/>
        </p:nvSpPr>
        <p:spPr>
          <a:xfrm>
            <a:off x="457200" y="1188720"/>
            <a:ext cx="6858000" cy="822960"/>
          </a:xfrm>
          <a:prstGeom prst="rect">
            <a:avLst/>
          </a:prstGeom>
          <a:noFill/>
        </p:spPr>
        <p:txBody>
          <a:bodyPr wrap="square">
            <a:spAutoFit/>
          </a:bodyPr>
          <a:lstStyle/>
          <a:p>
            <a:pPr algn="l"/>
            <a:r>
              <a:rPr sz="4000" b="1" i="0">
                <a:solidFill>
                  <a:srgbClr val="FFFFFF"/>
                </a:solidFill>
                <a:latin typeface="Calibri"/>
              </a:rPr>
              <a:t>PopOut Game com</a:t>
            </a:r>
          </a:p>
        </p:txBody>
      </p:sp>
      <p:sp>
        <p:nvSpPr>
          <p:cNvPr id="48" name="TextBox 47"/>
          <p:cNvSpPr txBox="1"/>
          <p:nvPr/>
        </p:nvSpPr>
        <p:spPr>
          <a:xfrm>
            <a:off x="457200" y="1920240"/>
            <a:ext cx="6858000" cy="777240"/>
          </a:xfrm>
          <a:prstGeom prst="rect">
            <a:avLst/>
          </a:prstGeom>
          <a:noFill/>
        </p:spPr>
        <p:txBody>
          <a:bodyPr wrap="square">
            <a:spAutoFit/>
          </a:bodyPr>
          <a:lstStyle/>
          <a:p>
            <a:pPr algn="l"/>
            <a:r>
              <a:rPr sz="4000" b="1" i="0">
                <a:solidFill>
                  <a:srgbClr val="00B4D8"/>
                </a:solidFill>
                <a:latin typeface="Calibri"/>
              </a:rPr>
              <a:t>Monte Carlo Tree Search</a:t>
            </a:r>
          </a:p>
        </p:txBody>
      </p:sp>
      <p:sp>
        <p:nvSpPr>
          <p:cNvPr id="49" name="TextBox 48"/>
          <p:cNvSpPr txBox="1"/>
          <p:nvPr/>
        </p:nvSpPr>
        <p:spPr>
          <a:xfrm>
            <a:off x="457200" y="2651760"/>
            <a:ext cx="6858000" cy="731520"/>
          </a:xfrm>
          <a:prstGeom prst="rect">
            <a:avLst/>
          </a:prstGeom>
          <a:noFill/>
        </p:spPr>
        <p:txBody>
          <a:bodyPr wrap="square">
            <a:spAutoFit/>
          </a:bodyPr>
          <a:lstStyle/>
          <a:p>
            <a:pPr algn="l"/>
            <a:r>
              <a:rPr sz="4000" b="1" i="0">
                <a:solidFill>
                  <a:srgbClr val="FFFFFF"/>
                </a:solidFill>
                <a:latin typeface="Calibri"/>
              </a:rPr>
              <a:t>&amp; Decision Trees ID3</a:t>
            </a:r>
          </a:p>
        </p:txBody>
      </p:sp>
      <p:sp>
        <p:nvSpPr>
          <p:cNvPr id="50" name="Rectangle 49"/>
          <p:cNvSpPr/>
          <p:nvPr/>
        </p:nvSpPr>
        <p:spPr>
          <a:xfrm>
            <a:off x="457200" y="3520440"/>
            <a:ext cx="36576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3657600"/>
            <a:ext cx="6858000" cy="411480"/>
          </a:xfrm>
          <a:prstGeom prst="rect">
            <a:avLst/>
          </a:prstGeom>
          <a:noFill/>
        </p:spPr>
        <p:txBody>
          <a:bodyPr wrap="square">
            <a:spAutoFit/>
          </a:bodyPr>
          <a:lstStyle/>
          <a:p>
            <a:pPr algn="l"/>
            <a:r>
              <a:rPr sz="1400" b="0" i="0">
                <a:solidFill>
                  <a:srgbClr val="8BADC8"/>
                </a:solidFill>
                <a:latin typeface="Calibri"/>
              </a:rPr>
              <a:t>Projeto de Inteligência Artificial  ·  2024/2025</a:t>
            </a:r>
          </a:p>
        </p:txBody>
      </p:sp>
      <p:sp>
        <p:nvSpPr>
          <p:cNvPr id="52" name="TextBox 51"/>
          <p:cNvSpPr txBox="1"/>
          <p:nvPr/>
        </p:nvSpPr>
        <p:spPr>
          <a:xfrm>
            <a:off x="457200" y="4114800"/>
            <a:ext cx="6858000" cy="365760"/>
          </a:xfrm>
          <a:prstGeom prst="rect">
            <a:avLst/>
          </a:prstGeom>
          <a:noFill/>
        </p:spPr>
        <p:txBody>
          <a:bodyPr wrap="square">
            <a:spAutoFit/>
          </a:bodyPr>
          <a:lstStyle/>
          <a:p>
            <a:pPr algn="l"/>
            <a:r>
              <a:rPr sz="1300" b="0" i="1">
                <a:solidFill>
                  <a:srgbClr val="8BADC8"/>
                </a:solidFill>
                <a:latin typeface="Calibri"/>
              </a:rPr>
              <a:t>Apresentação — 10 minutos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Objetivo do Projeto</a:t>
            </a:r>
          </a:p>
        </p:txBody>
      </p:sp>
      <p:sp>
        <p:nvSpPr>
          <p:cNvPr id="6" name="Rectangle 5"/>
          <p:cNvSpPr/>
          <p:nvPr/>
        </p:nvSpPr>
        <p:spPr>
          <a:xfrm>
            <a:off x="365760" y="1234440"/>
            <a:ext cx="356616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234440"/>
            <a:ext cx="356616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2240280"/>
            <a:ext cx="3200400" cy="502920"/>
          </a:xfrm>
          <a:prstGeom prst="rect">
            <a:avLst/>
          </a:prstGeom>
          <a:noFill/>
        </p:spPr>
        <p:txBody>
          <a:bodyPr wrap="square">
            <a:spAutoFit/>
          </a:bodyPr>
          <a:lstStyle/>
          <a:p>
            <a:pPr algn="l"/>
            <a:r>
              <a:rPr sz="1700" b="1" i="0">
                <a:solidFill>
                  <a:srgbClr val="FFFFFF"/>
                </a:solidFill>
                <a:latin typeface="Calibri"/>
              </a:rPr>
              <a:t>Jogo PopOut</a:t>
            </a:r>
          </a:p>
        </p:txBody>
      </p:sp>
      <p:sp>
        <p:nvSpPr>
          <p:cNvPr id="10" name="TextBox 9"/>
          <p:cNvSpPr txBox="1"/>
          <p:nvPr/>
        </p:nvSpPr>
        <p:spPr>
          <a:xfrm>
            <a:off x="530352" y="2834640"/>
            <a:ext cx="3200400" cy="1737360"/>
          </a:xfrm>
          <a:prstGeom prst="rect">
            <a:avLst/>
          </a:prstGeom>
          <a:noFill/>
        </p:spPr>
        <p:txBody>
          <a:bodyPr wrap="square">
            <a:spAutoFit/>
          </a:bodyPr>
          <a:lstStyle/>
          <a:p>
            <a:pPr algn="l"/>
            <a:r>
              <a:rPr sz="1300" b="0" i="0">
                <a:solidFill>
                  <a:srgbClr val="CAE0F5"/>
                </a:solidFill>
                <a:latin typeface="Calibri"/>
              </a:rPr>
              <a:t>Implementar uma variante desafiante do Connect 4 com drop e pop</a:t>
            </a:r>
          </a:p>
        </p:txBody>
      </p:sp>
      <p:sp>
        <p:nvSpPr>
          <p:cNvPr id="11" name="Rectangle 10"/>
          <p:cNvSpPr/>
          <p:nvPr/>
        </p:nvSpPr>
        <p:spPr>
          <a:xfrm>
            <a:off x="4206240" y="1234440"/>
            <a:ext cx="356616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06240" y="1234440"/>
            <a:ext cx="356616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371600"/>
            <a:ext cx="822960" cy="822960"/>
          </a:xfrm>
          <a:prstGeom prst="rect">
            <a:avLst/>
          </a:prstGeom>
          <a:noFill/>
        </p:spPr>
        <p:txBody>
          <a:bodyPr wrap="square">
            <a:spAutoFit/>
          </a:bodyPr>
          <a:lstStyle/>
          <a:p>
            <a:pPr algn="l"/>
            <a:r>
              <a:rPr sz="3200" b="0" i="0">
                <a:latin typeface="Calibri"/>
              </a:rPr>
              <a:t>🤖</a:t>
            </a:r>
          </a:p>
        </p:txBody>
      </p:sp>
      <p:sp>
        <p:nvSpPr>
          <p:cNvPr id="14" name="TextBox 13"/>
          <p:cNvSpPr txBox="1"/>
          <p:nvPr/>
        </p:nvSpPr>
        <p:spPr>
          <a:xfrm>
            <a:off x="4370832" y="2240280"/>
            <a:ext cx="3200400" cy="502920"/>
          </a:xfrm>
          <a:prstGeom prst="rect">
            <a:avLst/>
          </a:prstGeom>
          <a:noFill/>
        </p:spPr>
        <p:txBody>
          <a:bodyPr wrap="square">
            <a:spAutoFit/>
          </a:bodyPr>
          <a:lstStyle/>
          <a:p>
            <a:pPr algn="l"/>
            <a:r>
              <a:rPr sz="1700" b="1" i="0">
                <a:solidFill>
                  <a:srgbClr val="FFFFFF"/>
                </a:solidFill>
                <a:latin typeface="Calibri"/>
              </a:rPr>
              <a:t>Agentes MCTS</a:t>
            </a:r>
          </a:p>
        </p:txBody>
      </p:sp>
      <p:sp>
        <p:nvSpPr>
          <p:cNvPr id="15" name="TextBox 14"/>
          <p:cNvSpPr txBox="1"/>
          <p:nvPr/>
        </p:nvSpPr>
        <p:spPr>
          <a:xfrm>
            <a:off x="4370832" y="2834640"/>
            <a:ext cx="3200400" cy="1737360"/>
          </a:xfrm>
          <a:prstGeom prst="rect">
            <a:avLst/>
          </a:prstGeom>
          <a:noFill/>
        </p:spPr>
        <p:txBody>
          <a:bodyPr wrap="square">
            <a:spAutoFit/>
          </a:bodyPr>
          <a:lstStyle/>
          <a:p>
            <a:pPr algn="l"/>
            <a:r>
              <a:rPr sz="1300" b="0" i="0">
                <a:solidFill>
                  <a:srgbClr val="CAE0F5"/>
                </a:solidFill>
                <a:latin typeface="Calibri"/>
              </a:rPr>
              <a:t>Desenvolver e comparar 4 estratégias de Monte Carlo Tree Search</a:t>
            </a:r>
          </a:p>
        </p:txBody>
      </p:sp>
      <p:sp>
        <p:nvSpPr>
          <p:cNvPr id="16" name="Rectangle 15"/>
          <p:cNvSpPr/>
          <p:nvPr/>
        </p:nvSpPr>
        <p:spPr>
          <a:xfrm>
            <a:off x="8046720" y="1234440"/>
            <a:ext cx="356616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234440"/>
            <a:ext cx="3566160" cy="73152"/>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80" y="1371600"/>
            <a:ext cx="822960" cy="822960"/>
          </a:xfrm>
          <a:prstGeom prst="rect">
            <a:avLst/>
          </a:prstGeom>
          <a:noFill/>
        </p:spPr>
        <p:txBody>
          <a:bodyPr wrap="square">
            <a:spAutoFit/>
          </a:bodyPr>
          <a:lstStyle/>
          <a:p>
            <a:pPr algn="l"/>
            <a:r>
              <a:rPr sz="3200" b="0" i="0">
                <a:latin typeface="Calibri"/>
              </a:rPr>
              <a:t>🌳</a:t>
            </a:r>
          </a:p>
        </p:txBody>
      </p:sp>
      <p:sp>
        <p:nvSpPr>
          <p:cNvPr id="19" name="TextBox 18"/>
          <p:cNvSpPr txBox="1"/>
          <p:nvPr/>
        </p:nvSpPr>
        <p:spPr>
          <a:xfrm>
            <a:off x="8211312" y="2240280"/>
            <a:ext cx="3200400" cy="502920"/>
          </a:xfrm>
          <a:prstGeom prst="rect">
            <a:avLst/>
          </a:prstGeom>
          <a:noFill/>
        </p:spPr>
        <p:txBody>
          <a:bodyPr wrap="square">
            <a:spAutoFit/>
          </a:bodyPr>
          <a:lstStyle/>
          <a:p>
            <a:pPr algn="l"/>
            <a:r>
              <a:rPr sz="1700" b="1" i="0">
                <a:solidFill>
                  <a:srgbClr val="FFFFFF"/>
                </a:solidFill>
                <a:latin typeface="Calibri"/>
              </a:rPr>
              <a:t>Decision Tree ID3</a:t>
            </a:r>
          </a:p>
        </p:txBody>
      </p:sp>
      <p:sp>
        <p:nvSpPr>
          <p:cNvPr id="20" name="TextBox 19"/>
          <p:cNvSpPr txBox="1"/>
          <p:nvPr/>
        </p:nvSpPr>
        <p:spPr>
          <a:xfrm>
            <a:off x="8211312" y="2834640"/>
            <a:ext cx="3200400" cy="1737360"/>
          </a:xfrm>
          <a:prstGeom prst="rect">
            <a:avLst/>
          </a:prstGeom>
          <a:noFill/>
        </p:spPr>
        <p:txBody>
          <a:bodyPr wrap="square">
            <a:spAutoFit/>
          </a:bodyPr>
          <a:lstStyle/>
          <a:p>
            <a:pPr algn="l"/>
            <a:r>
              <a:rPr sz="1300" b="0" i="0">
                <a:solidFill>
                  <a:srgbClr val="CAE0F5"/>
                </a:solidFill>
                <a:latin typeface="Calibri"/>
              </a:rPr>
              <a:t>Treinar uma árvore de decisão ID3 de raiz a partir de dados gerados pelo melhor agente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Regras do PopOut</a:t>
            </a:r>
          </a:p>
        </p:txBody>
      </p:sp>
      <p:sp>
        <p:nvSpPr>
          <p:cNvPr id="6" name="Rectangle 5"/>
          <p:cNvSpPr/>
          <p:nvPr/>
        </p:nvSpPr>
        <p:spPr>
          <a:xfrm>
            <a:off x="365760" y="1143000"/>
            <a:ext cx="5303520" cy="539496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5029200" cy="2377574"/>
          </a:xfrm>
          <a:prstGeom prst="rect">
            <a:avLst/>
          </a:prstGeom>
          <a:noFill/>
        </p:spPr>
        <p:txBody>
          <a:bodyPr wrap="square">
            <a:spAutoFit/>
          </a:bodyPr>
          <a:lstStyle/>
          <a:p>
            <a:pPr algn="l"/>
            <a:r>
              <a:rPr sz="1350" dirty="0" err="1">
                <a:solidFill>
                  <a:srgbClr val="CAE0F5"/>
                </a:solidFill>
                <a:latin typeface="Calibri"/>
              </a:rPr>
              <a:t>Tabuleiro</a:t>
            </a:r>
            <a:r>
              <a:rPr sz="1350" dirty="0">
                <a:solidFill>
                  <a:srgbClr val="CAE0F5"/>
                </a:solidFill>
                <a:latin typeface="Calibri"/>
              </a:rPr>
              <a:t> 6×7</a:t>
            </a:r>
          </a:p>
          <a:p>
            <a:pPr algn="l"/>
            <a:r>
              <a:rPr sz="1350" dirty="0" err="1">
                <a:solidFill>
                  <a:srgbClr val="CAE0F5"/>
                </a:solidFill>
                <a:latin typeface="Calibri"/>
              </a:rPr>
              <a:t>Objetivo</a:t>
            </a:r>
            <a:r>
              <a:rPr sz="1350" dirty="0">
                <a:solidFill>
                  <a:srgbClr val="CAE0F5"/>
                </a:solidFill>
                <a:latin typeface="Calibri"/>
              </a:rPr>
              <a:t>: </a:t>
            </a:r>
            <a:r>
              <a:rPr sz="1350" dirty="0" err="1">
                <a:solidFill>
                  <a:srgbClr val="CAE0F5"/>
                </a:solidFill>
                <a:latin typeface="Calibri"/>
              </a:rPr>
              <a:t>alinhar</a:t>
            </a:r>
            <a:r>
              <a:rPr sz="1350" dirty="0">
                <a:solidFill>
                  <a:srgbClr val="CAE0F5"/>
                </a:solidFill>
                <a:latin typeface="Calibri"/>
              </a:rPr>
              <a:t> 4 </a:t>
            </a:r>
            <a:r>
              <a:rPr sz="1350" dirty="0" err="1">
                <a:solidFill>
                  <a:srgbClr val="CAE0F5"/>
                </a:solidFill>
                <a:latin typeface="Calibri"/>
              </a:rPr>
              <a:t>peças</a:t>
            </a:r>
            <a:r>
              <a:rPr sz="1350" dirty="0">
                <a:solidFill>
                  <a:srgbClr val="CAE0F5"/>
                </a:solidFill>
                <a:latin typeface="Calibri"/>
              </a:rPr>
              <a:t> </a:t>
            </a:r>
            <a:r>
              <a:rPr lang="pt-PT" sz="1350" dirty="0">
                <a:solidFill>
                  <a:srgbClr val="CAE0F5"/>
                </a:solidFill>
                <a:latin typeface="Calibri"/>
              </a:rPr>
              <a:t>na horizontal, vertical ou diagonal</a:t>
            </a:r>
            <a:endParaRPr sz="1350" dirty="0">
              <a:solidFill>
                <a:srgbClr val="CAE0F5"/>
              </a:solidFill>
              <a:latin typeface="Calibri"/>
            </a:endParaRPr>
          </a:p>
          <a:p>
            <a:pPr algn="l"/>
            <a:endParaRPr sz="1350" dirty="0">
              <a:solidFill>
                <a:srgbClr val="CAE0F5"/>
              </a:solidFill>
              <a:latin typeface="Calibri"/>
            </a:endParaRPr>
          </a:p>
          <a:p>
            <a:pPr algn="l"/>
            <a:r>
              <a:rPr sz="1350" dirty="0">
                <a:solidFill>
                  <a:srgbClr val="CAE0F5"/>
                </a:solidFill>
                <a:latin typeface="Calibri"/>
              </a:rPr>
              <a:t>DROP</a:t>
            </a:r>
            <a:r>
              <a:rPr lang="pt-PT" sz="1350" dirty="0">
                <a:solidFill>
                  <a:srgbClr val="CAE0F5"/>
                </a:solidFill>
                <a:latin typeface="Calibri"/>
              </a:rPr>
              <a:t>:</a:t>
            </a:r>
            <a:r>
              <a:rPr sz="1350" dirty="0">
                <a:solidFill>
                  <a:srgbClr val="CAE0F5"/>
                </a:solidFill>
                <a:latin typeface="Calibri"/>
              </a:rPr>
              <a:t> </a:t>
            </a:r>
            <a:r>
              <a:rPr sz="1350" dirty="0" err="1">
                <a:solidFill>
                  <a:srgbClr val="CAE0F5"/>
                </a:solidFill>
                <a:latin typeface="Calibri"/>
              </a:rPr>
              <a:t>colocar</a:t>
            </a:r>
            <a:r>
              <a:rPr sz="1350" dirty="0">
                <a:solidFill>
                  <a:srgbClr val="CAE0F5"/>
                </a:solidFill>
                <a:latin typeface="Calibri"/>
              </a:rPr>
              <a:t> </a:t>
            </a:r>
            <a:r>
              <a:rPr sz="1350" dirty="0" err="1">
                <a:solidFill>
                  <a:srgbClr val="CAE0F5"/>
                </a:solidFill>
                <a:latin typeface="Calibri"/>
              </a:rPr>
              <a:t>peça</a:t>
            </a:r>
            <a:r>
              <a:rPr sz="1350" dirty="0">
                <a:solidFill>
                  <a:srgbClr val="CAE0F5"/>
                </a:solidFill>
                <a:latin typeface="Calibri"/>
              </a:rPr>
              <a:t> no topo de </a:t>
            </a:r>
            <a:r>
              <a:rPr sz="1350" dirty="0" err="1">
                <a:solidFill>
                  <a:srgbClr val="CAE0F5"/>
                </a:solidFill>
                <a:latin typeface="Calibri"/>
              </a:rPr>
              <a:t>uma</a:t>
            </a:r>
            <a:r>
              <a:rPr sz="1350" dirty="0">
                <a:solidFill>
                  <a:srgbClr val="CAE0F5"/>
                </a:solidFill>
                <a:latin typeface="Calibri"/>
              </a:rPr>
              <a:t> </a:t>
            </a:r>
            <a:r>
              <a:rPr sz="1350" dirty="0" err="1">
                <a:solidFill>
                  <a:srgbClr val="CAE0F5"/>
                </a:solidFill>
                <a:latin typeface="Calibri"/>
              </a:rPr>
              <a:t>coluna</a:t>
            </a:r>
            <a:endParaRPr sz="1350" dirty="0">
              <a:solidFill>
                <a:srgbClr val="CAE0F5"/>
              </a:solidFill>
              <a:latin typeface="Calibri"/>
            </a:endParaRPr>
          </a:p>
          <a:p>
            <a:pPr algn="l"/>
            <a:r>
              <a:rPr sz="1350" dirty="0">
                <a:solidFill>
                  <a:srgbClr val="CAE0F5"/>
                </a:solidFill>
                <a:latin typeface="Calibri"/>
              </a:rPr>
              <a:t>POP</a:t>
            </a:r>
            <a:r>
              <a:rPr lang="pt-PT" sz="1350" dirty="0">
                <a:solidFill>
                  <a:srgbClr val="CAE0F5"/>
                </a:solidFill>
                <a:latin typeface="Calibri"/>
              </a:rPr>
              <a:t>:</a:t>
            </a:r>
            <a:r>
              <a:rPr sz="1350" dirty="0">
                <a:solidFill>
                  <a:srgbClr val="CAE0F5"/>
                </a:solidFill>
                <a:latin typeface="Calibri"/>
              </a:rPr>
              <a:t> </a:t>
            </a:r>
            <a:r>
              <a:rPr sz="1350" dirty="0" err="1">
                <a:solidFill>
                  <a:srgbClr val="CAE0F5"/>
                </a:solidFill>
                <a:latin typeface="Calibri"/>
              </a:rPr>
              <a:t>retirar</a:t>
            </a:r>
            <a:r>
              <a:rPr sz="1350" dirty="0">
                <a:solidFill>
                  <a:srgbClr val="CAE0F5"/>
                </a:solidFill>
                <a:latin typeface="Calibri"/>
              </a:rPr>
              <a:t> a </a:t>
            </a:r>
            <a:r>
              <a:rPr sz="1350" dirty="0" err="1">
                <a:solidFill>
                  <a:srgbClr val="CAE0F5"/>
                </a:solidFill>
                <a:latin typeface="Calibri"/>
              </a:rPr>
              <a:t>própria</a:t>
            </a:r>
            <a:r>
              <a:rPr sz="1350" dirty="0">
                <a:solidFill>
                  <a:srgbClr val="CAE0F5"/>
                </a:solidFill>
                <a:latin typeface="Calibri"/>
              </a:rPr>
              <a:t> </a:t>
            </a:r>
            <a:r>
              <a:rPr sz="1350" dirty="0" err="1">
                <a:solidFill>
                  <a:srgbClr val="CAE0F5"/>
                </a:solidFill>
                <a:latin typeface="Calibri"/>
              </a:rPr>
              <a:t>peça</a:t>
            </a:r>
            <a:r>
              <a:rPr sz="1350" dirty="0">
                <a:solidFill>
                  <a:srgbClr val="CAE0F5"/>
                </a:solidFill>
                <a:latin typeface="Calibri"/>
              </a:rPr>
              <a:t> da base de </a:t>
            </a:r>
            <a:r>
              <a:rPr sz="1350" dirty="0" err="1">
                <a:solidFill>
                  <a:srgbClr val="CAE0F5"/>
                </a:solidFill>
                <a:latin typeface="Calibri"/>
              </a:rPr>
              <a:t>uma</a:t>
            </a:r>
            <a:r>
              <a:rPr sz="1350" dirty="0">
                <a:solidFill>
                  <a:srgbClr val="CAE0F5"/>
                </a:solidFill>
                <a:latin typeface="Calibri"/>
              </a:rPr>
              <a:t> </a:t>
            </a:r>
            <a:r>
              <a:rPr sz="1350" dirty="0" err="1">
                <a:solidFill>
                  <a:srgbClr val="CAE0F5"/>
                </a:solidFill>
                <a:latin typeface="Calibri"/>
              </a:rPr>
              <a:t>coluna</a:t>
            </a:r>
            <a:endParaRPr sz="1350" dirty="0">
              <a:solidFill>
                <a:srgbClr val="CAE0F5"/>
              </a:solidFill>
              <a:latin typeface="Calibri"/>
            </a:endParaRPr>
          </a:p>
          <a:p>
            <a:pPr lvl="1" algn="l"/>
            <a:r>
              <a:rPr sz="1350" dirty="0">
                <a:solidFill>
                  <a:srgbClr val="CAE0F5"/>
                </a:solidFill>
                <a:latin typeface="Calibri"/>
              </a:rPr>
              <a:t>  · As </a:t>
            </a:r>
            <a:r>
              <a:rPr sz="1350" dirty="0" err="1">
                <a:solidFill>
                  <a:srgbClr val="CAE0F5"/>
                </a:solidFill>
                <a:latin typeface="Calibri"/>
              </a:rPr>
              <a:t>peças</a:t>
            </a:r>
            <a:r>
              <a:rPr sz="1350" dirty="0">
                <a:solidFill>
                  <a:srgbClr val="CAE0F5"/>
                </a:solidFill>
                <a:latin typeface="Calibri"/>
              </a:rPr>
              <a:t> </a:t>
            </a:r>
            <a:r>
              <a:rPr sz="1350" dirty="0" err="1">
                <a:solidFill>
                  <a:srgbClr val="CAE0F5"/>
                </a:solidFill>
                <a:latin typeface="Calibri"/>
              </a:rPr>
              <a:t>acima</a:t>
            </a:r>
            <a:r>
              <a:rPr sz="1350" dirty="0">
                <a:solidFill>
                  <a:srgbClr val="CAE0F5"/>
                </a:solidFill>
                <a:latin typeface="Calibri"/>
              </a:rPr>
              <a:t> </a:t>
            </a:r>
            <a:r>
              <a:rPr sz="1350" dirty="0" err="1">
                <a:solidFill>
                  <a:srgbClr val="CAE0F5"/>
                </a:solidFill>
                <a:latin typeface="Calibri"/>
              </a:rPr>
              <a:t>descem</a:t>
            </a:r>
            <a:r>
              <a:rPr sz="1350" dirty="0">
                <a:solidFill>
                  <a:srgbClr val="CAE0F5"/>
                </a:solidFill>
                <a:latin typeface="Calibri"/>
              </a:rPr>
              <a:t> </a:t>
            </a:r>
            <a:r>
              <a:rPr sz="1350" dirty="0" err="1">
                <a:solidFill>
                  <a:srgbClr val="CAE0F5"/>
                </a:solidFill>
                <a:latin typeface="Calibri"/>
              </a:rPr>
              <a:t>uma</a:t>
            </a:r>
            <a:r>
              <a:rPr sz="1350" dirty="0">
                <a:solidFill>
                  <a:srgbClr val="CAE0F5"/>
                </a:solidFill>
                <a:latin typeface="Calibri"/>
              </a:rPr>
              <a:t> </a:t>
            </a:r>
            <a:r>
              <a:rPr sz="1350" dirty="0" err="1">
                <a:solidFill>
                  <a:srgbClr val="CAE0F5"/>
                </a:solidFill>
                <a:latin typeface="Calibri"/>
              </a:rPr>
              <a:t>posição</a:t>
            </a:r>
            <a:endParaRPr sz="1350" dirty="0">
              <a:solidFill>
                <a:srgbClr val="CAE0F5"/>
              </a:solidFill>
              <a:latin typeface="Calibri"/>
            </a:endParaRPr>
          </a:p>
          <a:p>
            <a:pPr lvl="1" algn="l"/>
            <a:r>
              <a:rPr sz="1350" dirty="0">
                <a:solidFill>
                  <a:srgbClr val="CAE0F5"/>
                </a:solidFill>
                <a:latin typeface="Calibri"/>
              </a:rPr>
              <a:t>  · Só </a:t>
            </a:r>
            <a:r>
              <a:rPr sz="1350" dirty="0" err="1">
                <a:solidFill>
                  <a:srgbClr val="CAE0F5"/>
                </a:solidFill>
                <a:latin typeface="Calibri"/>
              </a:rPr>
              <a:t>pode</a:t>
            </a:r>
            <a:r>
              <a:rPr sz="1350" dirty="0">
                <a:solidFill>
                  <a:srgbClr val="CAE0F5"/>
                </a:solidFill>
                <a:latin typeface="Calibri"/>
              </a:rPr>
              <a:t> </a:t>
            </a:r>
            <a:r>
              <a:rPr sz="1350" dirty="0" err="1">
                <a:solidFill>
                  <a:srgbClr val="CAE0F5"/>
                </a:solidFill>
                <a:latin typeface="Calibri"/>
              </a:rPr>
              <a:t>retirar</a:t>
            </a:r>
            <a:r>
              <a:rPr sz="1350" dirty="0">
                <a:solidFill>
                  <a:srgbClr val="CAE0F5"/>
                </a:solidFill>
                <a:latin typeface="Calibri"/>
              </a:rPr>
              <a:t> </a:t>
            </a:r>
            <a:r>
              <a:rPr sz="1350" dirty="0" err="1">
                <a:solidFill>
                  <a:srgbClr val="CAE0F5"/>
                </a:solidFill>
                <a:latin typeface="Calibri"/>
              </a:rPr>
              <a:t>peças</a:t>
            </a:r>
            <a:r>
              <a:rPr sz="1350" dirty="0">
                <a:solidFill>
                  <a:srgbClr val="CAE0F5"/>
                </a:solidFill>
                <a:latin typeface="Calibri"/>
              </a:rPr>
              <a:t> da </a:t>
            </a:r>
            <a:r>
              <a:rPr sz="1350" dirty="0" err="1">
                <a:solidFill>
                  <a:srgbClr val="CAE0F5"/>
                </a:solidFill>
                <a:latin typeface="Calibri"/>
              </a:rPr>
              <a:t>própria</a:t>
            </a:r>
            <a:r>
              <a:rPr sz="1350" dirty="0">
                <a:solidFill>
                  <a:srgbClr val="CAE0F5"/>
                </a:solidFill>
                <a:latin typeface="Calibri"/>
              </a:rPr>
              <a:t> </a:t>
            </a:r>
            <a:r>
              <a:rPr sz="1350" dirty="0" err="1">
                <a:solidFill>
                  <a:srgbClr val="CAE0F5"/>
                </a:solidFill>
                <a:latin typeface="Calibri"/>
              </a:rPr>
              <a:t>cor</a:t>
            </a:r>
            <a:endParaRPr sz="1350" dirty="0">
              <a:solidFill>
                <a:srgbClr val="CAE0F5"/>
              </a:solidFill>
              <a:latin typeface="Calibri"/>
            </a:endParaRPr>
          </a:p>
          <a:p>
            <a:pPr algn="l"/>
            <a:endParaRPr sz="1350" dirty="0">
              <a:solidFill>
                <a:srgbClr val="CAE0F5"/>
              </a:solidFill>
              <a:latin typeface="Calibri"/>
            </a:endParaRPr>
          </a:p>
          <a:p>
            <a:pPr algn="l"/>
            <a:r>
              <a:rPr lang="pt-PT" sz="1350" dirty="0">
                <a:solidFill>
                  <a:srgbClr val="CAE0F5"/>
                </a:solidFill>
                <a:latin typeface="Calibri"/>
              </a:rPr>
              <a:t>Máximo de </a:t>
            </a:r>
            <a:r>
              <a:rPr sz="1350" dirty="0">
                <a:solidFill>
                  <a:srgbClr val="CAE0F5"/>
                </a:solidFill>
                <a:latin typeface="Calibri"/>
              </a:rPr>
              <a:t>14 </a:t>
            </a:r>
            <a:r>
              <a:rPr sz="1350" dirty="0" err="1">
                <a:solidFill>
                  <a:srgbClr val="CAE0F5"/>
                </a:solidFill>
                <a:latin typeface="Calibri"/>
              </a:rPr>
              <a:t>ações</a:t>
            </a:r>
            <a:r>
              <a:rPr sz="1350" dirty="0">
                <a:solidFill>
                  <a:srgbClr val="CAE0F5"/>
                </a:solidFill>
                <a:latin typeface="Calibri"/>
              </a:rPr>
              <a:t> </a:t>
            </a:r>
            <a:r>
              <a:rPr sz="1350" dirty="0" err="1">
                <a:solidFill>
                  <a:srgbClr val="CAE0F5"/>
                </a:solidFill>
                <a:latin typeface="Calibri"/>
              </a:rPr>
              <a:t>possíveis</a:t>
            </a:r>
            <a:r>
              <a:rPr sz="1350" dirty="0">
                <a:solidFill>
                  <a:srgbClr val="CAE0F5"/>
                </a:solidFill>
                <a:latin typeface="Calibri"/>
              </a:rPr>
              <a:t> </a:t>
            </a:r>
            <a:r>
              <a:rPr sz="1350" dirty="0" err="1">
                <a:solidFill>
                  <a:srgbClr val="CAE0F5"/>
                </a:solidFill>
                <a:latin typeface="Calibri"/>
              </a:rPr>
              <a:t>por</a:t>
            </a:r>
            <a:r>
              <a:rPr sz="1350" dirty="0">
                <a:solidFill>
                  <a:srgbClr val="CAE0F5"/>
                </a:solidFill>
                <a:latin typeface="Calibri"/>
              </a:rPr>
              <a:t> </a:t>
            </a:r>
            <a:r>
              <a:rPr sz="1350" dirty="0" err="1">
                <a:solidFill>
                  <a:srgbClr val="CAE0F5"/>
                </a:solidFill>
                <a:latin typeface="Calibri"/>
              </a:rPr>
              <a:t>estado</a:t>
            </a:r>
            <a:endParaRPr sz="1350" dirty="0">
              <a:solidFill>
                <a:srgbClr val="CAE0F5"/>
              </a:solidFill>
              <a:latin typeface="Calibri"/>
            </a:endParaRPr>
          </a:p>
          <a:p>
            <a:pPr lvl="1" algn="l"/>
            <a:r>
              <a:rPr sz="1350" dirty="0">
                <a:solidFill>
                  <a:srgbClr val="CAE0F5"/>
                </a:solidFill>
                <a:latin typeface="Calibri"/>
              </a:rPr>
              <a:t>  · Drop 0–6 (7 </a:t>
            </a:r>
            <a:r>
              <a:rPr sz="1350" dirty="0" err="1">
                <a:solidFill>
                  <a:srgbClr val="CAE0F5"/>
                </a:solidFill>
                <a:latin typeface="Calibri"/>
              </a:rPr>
              <a:t>colunas</a:t>
            </a:r>
            <a:r>
              <a:rPr sz="1350" dirty="0">
                <a:solidFill>
                  <a:srgbClr val="CAE0F5"/>
                </a:solidFill>
                <a:latin typeface="Calibri"/>
              </a:rPr>
              <a:t>)</a:t>
            </a:r>
          </a:p>
          <a:p>
            <a:pPr lvl="1" algn="l"/>
            <a:r>
              <a:rPr sz="1350" dirty="0">
                <a:solidFill>
                  <a:srgbClr val="CAE0F5"/>
                </a:solidFill>
                <a:latin typeface="Calibri"/>
              </a:rPr>
              <a:t>  · Pop 0–6 (7 </a:t>
            </a:r>
            <a:r>
              <a:rPr sz="1350" dirty="0" err="1">
                <a:solidFill>
                  <a:srgbClr val="CAE0F5"/>
                </a:solidFill>
                <a:latin typeface="Calibri"/>
              </a:rPr>
              <a:t>colunas</a:t>
            </a:r>
            <a:r>
              <a:rPr sz="1350" dirty="0">
                <a:solidFill>
                  <a:srgbClr val="CAE0F5"/>
                </a:solidFill>
                <a:latin typeface="Calibri"/>
              </a:rPr>
              <a:t>)</a:t>
            </a:r>
          </a:p>
        </p:txBody>
      </p:sp>
      <p:sp>
        <p:nvSpPr>
          <p:cNvPr id="8" name="TextBox 7"/>
          <p:cNvSpPr txBox="1"/>
          <p:nvPr/>
        </p:nvSpPr>
        <p:spPr>
          <a:xfrm>
            <a:off x="6035040" y="1188720"/>
            <a:ext cx="5760720" cy="457200"/>
          </a:xfrm>
          <a:prstGeom prst="rect">
            <a:avLst/>
          </a:prstGeom>
          <a:noFill/>
        </p:spPr>
        <p:txBody>
          <a:bodyPr wrap="square">
            <a:spAutoFit/>
          </a:bodyPr>
          <a:lstStyle/>
          <a:p>
            <a:pPr algn="ctr"/>
            <a:r>
              <a:rPr sz="1500" b="1" i="0">
                <a:solidFill>
                  <a:srgbClr val="00B4D8"/>
                </a:solidFill>
                <a:latin typeface="Calibri"/>
              </a:rPr>
              <a:t>Tabuleiro 6×7</a:t>
            </a:r>
          </a:p>
        </p:txBody>
      </p:sp>
      <p:sp>
        <p:nvSpPr>
          <p:cNvPr id="9" name="Rectangle 8"/>
          <p:cNvSpPr/>
          <p:nvPr/>
        </p:nvSpPr>
        <p:spPr>
          <a:xfrm>
            <a:off x="63093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9951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3667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0525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7383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424159" y="178308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93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9951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809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667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525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7383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424159" y="2404872"/>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093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9951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6809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3667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439911" y="3081528"/>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525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7383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424159" y="3026664"/>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093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9951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6809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54111" y="3703320"/>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3667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439911" y="3703320"/>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525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125711" y="3703320"/>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7383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424159" y="3648456"/>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093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9951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068312" y="4325112"/>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6809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754111" y="4325112"/>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3667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439911" y="4325112"/>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0525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25711" y="4325112"/>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7383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424159" y="4270248"/>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3093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382512" y="4946904"/>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9951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068312" y="4946904"/>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6809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754111" y="4946904"/>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3667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439911" y="4946904"/>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0525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125711" y="4946904"/>
            <a:ext cx="502920"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7383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811511" y="4946904"/>
            <a:ext cx="502920" cy="4754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0424159" y="4892040"/>
            <a:ext cx="649224" cy="585216"/>
          </a:xfrm>
          <a:prstGeom prst="rect">
            <a:avLst/>
          </a:prstGeom>
          <a:solidFill>
            <a:srgbClr val="0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217920" y="5605272"/>
            <a:ext cx="5486400" cy="365760"/>
          </a:xfrm>
          <a:prstGeom prst="rect">
            <a:avLst/>
          </a:prstGeom>
          <a:noFill/>
        </p:spPr>
        <p:txBody>
          <a:bodyPr wrap="square">
            <a:spAutoFit/>
          </a:bodyPr>
          <a:lstStyle/>
          <a:p>
            <a:pPr algn="ctr"/>
            <a:r>
              <a:rPr sz="1100" b="0" i="0">
                <a:solidFill>
                  <a:srgbClr val="8BADC8"/>
                </a:solidFill>
                <a:latin typeface="Calibri"/>
              </a:rPr>
              <a:t>● Jogador 1 (Ciano)   ● Jogador 2 (Âmbar)</a:t>
            </a:r>
          </a:p>
        </p:txBody>
      </p:sp>
      <p:sp>
        <p:nvSpPr>
          <p:cNvPr id="66" name="TextBox 65"/>
          <p:cNvSpPr txBox="1"/>
          <p:nvPr/>
        </p:nvSpPr>
        <p:spPr>
          <a:xfrm>
            <a:off x="6217920" y="6016752"/>
            <a:ext cx="5486400" cy="320040"/>
          </a:xfrm>
          <a:prstGeom prst="rect">
            <a:avLst/>
          </a:prstGeom>
          <a:noFill/>
        </p:spPr>
        <p:txBody>
          <a:bodyPr wrap="square">
            <a:spAutoFit/>
          </a:bodyPr>
          <a:lstStyle/>
          <a:p>
            <a:pPr algn="ctr"/>
            <a:r>
              <a:rPr sz="1100" b="0" i="0">
                <a:solidFill>
                  <a:srgbClr val="06D68A"/>
                </a:solidFill>
                <a:latin typeface="Calibri"/>
              </a:rPr>
              <a:t>↑ POP remove peça da base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Arquitetura Geral</a:t>
            </a:r>
          </a:p>
        </p:txBody>
      </p:sp>
      <p:sp>
        <p:nvSpPr>
          <p:cNvPr id="5" name="TextBox 4"/>
          <p:cNvSpPr txBox="1"/>
          <p:nvPr/>
        </p:nvSpPr>
        <p:spPr>
          <a:xfrm>
            <a:off x="228600" y="713232"/>
            <a:ext cx="11430000" cy="365760"/>
          </a:xfrm>
          <a:prstGeom prst="rect">
            <a:avLst/>
          </a:prstGeom>
          <a:noFill/>
        </p:spPr>
        <p:txBody>
          <a:bodyPr wrap="square">
            <a:spAutoFit/>
          </a:bodyPr>
          <a:lstStyle/>
          <a:p>
            <a:pPr algn="l"/>
            <a:r>
              <a:rPr sz="1300" b="0" i="0">
                <a:solidFill>
                  <a:srgbClr val="00B4D8"/>
                </a:solidFill>
                <a:latin typeface="Calibri"/>
              </a:rPr>
              <a:t>Pipeline do projeto</a:t>
            </a:r>
          </a:p>
        </p:txBody>
      </p:sp>
      <p:sp>
        <p:nvSpPr>
          <p:cNvPr id="6" name="Rectangle 5"/>
          <p:cNvSpPr/>
          <p:nvPr/>
        </p:nvSpPr>
        <p:spPr>
          <a:xfrm>
            <a:off x="736091" y="1280160"/>
            <a:ext cx="201168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6091" y="1280160"/>
            <a:ext cx="201168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485899" y="1508760"/>
            <a:ext cx="512064" cy="5120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85899" y="1490472"/>
            <a:ext cx="512064" cy="530352"/>
          </a:xfrm>
          <a:prstGeom prst="rect">
            <a:avLst/>
          </a:prstGeom>
          <a:noFill/>
        </p:spPr>
        <p:txBody>
          <a:bodyPr wrap="square">
            <a:spAutoFit/>
          </a:bodyPr>
          <a:lstStyle/>
          <a:p>
            <a:pPr algn="ctr"/>
            <a:r>
              <a:rPr sz="2000" b="1" i="0">
                <a:solidFill>
                  <a:srgbClr val="0F172A"/>
                </a:solidFill>
                <a:latin typeface="Calibri"/>
              </a:rPr>
              <a:t>1</a:t>
            </a:r>
          </a:p>
        </p:txBody>
      </p:sp>
      <p:sp>
        <p:nvSpPr>
          <p:cNvPr id="10" name="TextBox 9"/>
          <p:cNvSpPr txBox="1"/>
          <p:nvPr/>
        </p:nvSpPr>
        <p:spPr>
          <a:xfrm>
            <a:off x="827531" y="2176272"/>
            <a:ext cx="1828800" cy="502920"/>
          </a:xfrm>
          <a:prstGeom prst="rect">
            <a:avLst/>
          </a:prstGeom>
          <a:noFill/>
        </p:spPr>
        <p:txBody>
          <a:bodyPr wrap="square">
            <a:spAutoFit/>
          </a:bodyPr>
          <a:lstStyle/>
          <a:p>
            <a:pPr algn="ctr"/>
            <a:r>
              <a:rPr sz="1400" b="1" i="0">
                <a:solidFill>
                  <a:srgbClr val="FFFFFF"/>
                </a:solidFill>
                <a:latin typeface="Calibri"/>
              </a:rPr>
              <a:t>Jogo PopOut</a:t>
            </a:r>
          </a:p>
        </p:txBody>
      </p:sp>
      <p:sp>
        <p:nvSpPr>
          <p:cNvPr id="11" name="TextBox 10"/>
          <p:cNvSpPr txBox="1"/>
          <p:nvPr/>
        </p:nvSpPr>
        <p:spPr>
          <a:xfrm>
            <a:off x="827531" y="2743200"/>
            <a:ext cx="1828800" cy="1828800"/>
          </a:xfrm>
          <a:prstGeom prst="rect">
            <a:avLst/>
          </a:prstGeom>
          <a:noFill/>
        </p:spPr>
        <p:txBody>
          <a:bodyPr wrap="square">
            <a:spAutoFit/>
          </a:bodyPr>
          <a:lstStyle/>
          <a:p>
            <a:pPr algn="ctr"/>
            <a:r>
              <a:rPr sz="1150" b="0" i="0">
                <a:solidFill>
                  <a:srgbClr val="8BADC8"/>
                </a:solidFill>
                <a:latin typeface="Calibri"/>
              </a:rPr>
              <a:t>Motor do jogo, regras, 14 ações</a:t>
            </a:r>
          </a:p>
        </p:txBody>
      </p:sp>
      <p:sp>
        <p:nvSpPr>
          <p:cNvPr id="12" name="TextBox 11"/>
          <p:cNvSpPr txBox="1"/>
          <p:nvPr/>
        </p:nvSpPr>
        <p:spPr>
          <a:xfrm>
            <a:off x="2766060" y="2286000"/>
            <a:ext cx="292608" cy="457200"/>
          </a:xfrm>
          <a:prstGeom prst="rect">
            <a:avLst/>
          </a:prstGeom>
          <a:noFill/>
        </p:spPr>
        <p:txBody>
          <a:bodyPr wrap="square">
            <a:spAutoFit/>
          </a:bodyPr>
          <a:lstStyle/>
          <a:p>
            <a:pPr algn="ctr"/>
            <a:r>
              <a:rPr sz="1600" b="1" i="0">
                <a:solidFill>
                  <a:srgbClr val="00B4D8"/>
                </a:solidFill>
                <a:latin typeface="Calibri"/>
              </a:rPr>
              <a:t>→</a:t>
            </a:r>
          </a:p>
        </p:txBody>
      </p:sp>
      <p:sp>
        <p:nvSpPr>
          <p:cNvPr id="13" name="Rectangle 12"/>
          <p:cNvSpPr/>
          <p:nvPr/>
        </p:nvSpPr>
        <p:spPr>
          <a:xfrm>
            <a:off x="2912364" y="1280160"/>
            <a:ext cx="201168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12364" y="1280160"/>
            <a:ext cx="201168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62172" y="1508760"/>
            <a:ext cx="512064" cy="5120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62172" y="1490472"/>
            <a:ext cx="512064" cy="530352"/>
          </a:xfrm>
          <a:prstGeom prst="rect">
            <a:avLst/>
          </a:prstGeom>
          <a:noFill/>
        </p:spPr>
        <p:txBody>
          <a:bodyPr wrap="square">
            <a:spAutoFit/>
          </a:bodyPr>
          <a:lstStyle/>
          <a:p>
            <a:pPr algn="ctr"/>
            <a:r>
              <a:rPr sz="2000" b="1" i="0">
                <a:solidFill>
                  <a:srgbClr val="0F172A"/>
                </a:solidFill>
                <a:latin typeface="Calibri"/>
              </a:rPr>
              <a:t>2</a:t>
            </a:r>
          </a:p>
        </p:txBody>
      </p:sp>
      <p:sp>
        <p:nvSpPr>
          <p:cNvPr id="17" name="TextBox 16"/>
          <p:cNvSpPr txBox="1"/>
          <p:nvPr/>
        </p:nvSpPr>
        <p:spPr>
          <a:xfrm>
            <a:off x="3003804" y="2176272"/>
            <a:ext cx="1828800" cy="502920"/>
          </a:xfrm>
          <a:prstGeom prst="rect">
            <a:avLst/>
          </a:prstGeom>
          <a:noFill/>
        </p:spPr>
        <p:txBody>
          <a:bodyPr wrap="square">
            <a:spAutoFit/>
          </a:bodyPr>
          <a:lstStyle/>
          <a:p>
            <a:pPr algn="ctr"/>
            <a:r>
              <a:rPr sz="1400" b="1" i="0">
                <a:solidFill>
                  <a:srgbClr val="FFFFFF"/>
                </a:solidFill>
                <a:latin typeface="Calibri"/>
              </a:rPr>
              <a:t>Agentes MCTS</a:t>
            </a:r>
          </a:p>
        </p:txBody>
      </p:sp>
      <p:sp>
        <p:nvSpPr>
          <p:cNvPr id="18" name="TextBox 17"/>
          <p:cNvSpPr txBox="1"/>
          <p:nvPr/>
        </p:nvSpPr>
        <p:spPr>
          <a:xfrm>
            <a:off x="3003804" y="2743200"/>
            <a:ext cx="1828800" cy="1828800"/>
          </a:xfrm>
          <a:prstGeom prst="rect">
            <a:avLst/>
          </a:prstGeom>
          <a:noFill/>
        </p:spPr>
        <p:txBody>
          <a:bodyPr wrap="square">
            <a:spAutoFit/>
          </a:bodyPr>
          <a:lstStyle/>
          <a:p>
            <a:pPr algn="ctr"/>
            <a:r>
              <a:rPr sz="1150" b="0" i="0">
                <a:solidFill>
                  <a:srgbClr val="8BADC8"/>
                </a:solidFill>
                <a:latin typeface="Calibri"/>
              </a:rPr>
              <a:t>UCT, RAVE, Top-K, Heurístico</a:t>
            </a:r>
          </a:p>
        </p:txBody>
      </p:sp>
      <p:sp>
        <p:nvSpPr>
          <p:cNvPr id="19" name="TextBox 18"/>
          <p:cNvSpPr txBox="1"/>
          <p:nvPr/>
        </p:nvSpPr>
        <p:spPr>
          <a:xfrm>
            <a:off x="4942331" y="2286000"/>
            <a:ext cx="292608" cy="457200"/>
          </a:xfrm>
          <a:prstGeom prst="rect">
            <a:avLst/>
          </a:prstGeom>
          <a:noFill/>
        </p:spPr>
        <p:txBody>
          <a:bodyPr wrap="square">
            <a:spAutoFit/>
          </a:bodyPr>
          <a:lstStyle/>
          <a:p>
            <a:pPr algn="ctr"/>
            <a:r>
              <a:rPr sz="1600" b="1" i="0">
                <a:solidFill>
                  <a:srgbClr val="00B4D8"/>
                </a:solidFill>
                <a:latin typeface="Calibri"/>
              </a:rPr>
              <a:t>→</a:t>
            </a:r>
          </a:p>
        </p:txBody>
      </p:sp>
      <p:sp>
        <p:nvSpPr>
          <p:cNvPr id="20" name="Rectangle 19"/>
          <p:cNvSpPr/>
          <p:nvPr/>
        </p:nvSpPr>
        <p:spPr>
          <a:xfrm>
            <a:off x="5088636" y="1280160"/>
            <a:ext cx="201168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88636" y="1280160"/>
            <a:ext cx="2011680" cy="73152"/>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838444" y="1508760"/>
            <a:ext cx="512064" cy="512064"/>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38444" y="1490472"/>
            <a:ext cx="512064" cy="530352"/>
          </a:xfrm>
          <a:prstGeom prst="rect">
            <a:avLst/>
          </a:prstGeom>
          <a:noFill/>
        </p:spPr>
        <p:txBody>
          <a:bodyPr wrap="square">
            <a:spAutoFit/>
          </a:bodyPr>
          <a:lstStyle/>
          <a:p>
            <a:pPr algn="ctr"/>
            <a:r>
              <a:rPr sz="2000" b="1" i="0">
                <a:solidFill>
                  <a:srgbClr val="0F172A"/>
                </a:solidFill>
                <a:latin typeface="Calibri"/>
              </a:rPr>
              <a:t>3</a:t>
            </a:r>
          </a:p>
        </p:txBody>
      </p:sp>
      <p:sp>
        <p:nvSpPr>
          <p:cNvPr id="24" name="TextBox 23"/>
          <p:cNvSpPr txBox="1"/>
          <p:nvPr/>
        </p:nvSpPr>
        <p:spPr>
          <a:xfrm>
            <a:off x="5180076" y="2176272"/>
            <a:ext cx="1828800" cy="502920"/>
          </a:xfrm>
          <a:prstGeom prst="rect">
            <a:avLst/>
          </a:prstGeom>
          <a:noFill/>
        </p:spPr>
        <p:txBody>
          <a:bodyPr wrap="square">
            <a:spAutoFit/>
          </a:bodyPr>
          <a:lstStyle/>
          <a:p>
            <a:pPr algn="ctr"/>
            <a:r>
              <a:rPr sz="1400" b="1" i="0">
                <a:solidFill>
                  <a:srgbClr val="FFFFFF"/>
                </a:solidFill>
                <a:latin typeface="Calibri"/>
              </a:rPr>
              <a:t>Torneios</a:t>
            </a:r>
          </a:p>
        </p:txBody>
      </p:sp>
      <p:sp>
        <p:nvSpPr>
          <p:cNvPr id="25" name="TextBox 24"/>
          <p:cNvSpPr txBox="1"/>
          <p:nvPr/>
        </p:nvSpPr>
        <p:spPr>
          <a:xfrm>
            <a:off x="5180076" y="2743200"/>
            <a:ext cx="1828800" cy="1828800"/>
          </a:xfrm>
          <a:prstGeom prst="rect">
            <a:avLst/>
          </a:prstGeom>
          <a:noFill/>
        </p:spPr>
        <p:txBody>
          <a:bodyPr wrap="square">
            <a:spAutoFit/>
          </a:bodyPr>
          <a:lstStyle/>
          <a:p>
            <a:pPr algn="ctr"/>
            <a:r>
              <a:rPr sz="1150" b="0" i="0">
                <a:solidFill>
                  <a:srgbClr val="8BADC8"/>
                </a:solidFill>
                <a:latin typeface="Calibri"/>
              </a:rPr>
              <a:t>Round-robin entre variantes</a:t>
            </a:r>
          </a:p>
        </p:txBody>
      </p:sp>
      <p:sp>
        <p:nvSpPr>
          <p:cNvPr id="26" name="TextBox 25"/>
          <p:cNvSpPr txBox="1"/>
          <p:nvPr/>
        </p:nvSpPr>
        <p:spPr>
          <a:xfrm>
            <a:off x="7118604" y="2286000"/>
            <a:ext cx="292608" cy="457200"/>
          </a:xfrm>
          <a:prstGeom prst="rect">
            <a:avLst/>
          </a:prstGeom>
          <a:noFill/>
        </p:spPr>
        <p:txBody>
          <a:bodyPr wrap="square">
            <a:spAutoFit/>
          </a:bodyPr>
          <a:lstStyle/>
          <a:p>
            <a:pPr algn="ctr"/>
            <a:r>
              <a:rPr sz="1600" b="1" i="0">
                <a:solidFill>
                  <a:srgbClr val="00B4D8"/>
                </a:solidFill>
                <a:latin typeface="Calibri"/>
              </a:rPr>
              <a:t>→</a:t>
            </a:r>
          </a:p>
        </p:txBody>
      </p:sp>
      <p:sp>
        <p:nvSpPr>
          <p:cNvPr id="27" name="Rectangle 26"/>
          <p:cNvSpPr/>
          <p:nvPr/>
        </p:nvSpPr>
        <p:spPr>
          <a:xfrm>
            <a:off x="7264908" y="1280160"/>
            <a:ext cx="201168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264908" y="1280160"/>
            <a:ext cx="2011680" cy="73152"/>
          </a:xfrm>
          <a:prstGeom prst="rect">
            <a:avLst/>
          </a:prstGeom>
          <a:solidFill>
            <a:srgbClr val="A05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14716" y="1508760"/>
            <a:ext cx="512064" cy="512064"/>
          </a:xfrm>
          <a:prstGeom prst="rect">
            <a:avLst/>
          </a:prstGeom>
          <a:solidFill>
            <a:srgbClr val="A05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14716" y="1490472"/>
            <a:ext cx="512064" cy="530352"/>
          </a:xfrm>
          <a:prstGeom prst="rect">
            <a:avLst/>
          </a:prstGeom>
          <a:noFill/>
        </p:spPr>
        <p:txBody>
          <a:bodyPr wrap="square">
            <a:spAutoFit/>
          </a:bodyPr>
          <a:lstStyle/>
          <a:p>
            <a:pPr algn="ctr"/>
            <a:r>
              <a:rPr sz="2000" b="1" i="0">
                <a:solidFill>
                  <a:srgbClr val="0F172A"/>
                </a:solidFill>
                <a:latin typeface="Calibri"/>
              </a:rPr>
              <a:t>4</a:t>
            </a:r>
          </a:p>
        </p:txBody>
      </p:sp>
      <p:sp>
        <p:nvSpPr>
          <p:cNvPr id="31" name="TextBox 30"/>
          <p:cNvSpPr txBox="1"/>
          <p:nvPr/>
        </p:nvSpPr>
        <p:spPr>
          <a:xfrm>
            <a:off x="7356348" y="2176272"/>
            <a:ext cx="1828800" cy="502920"/>
          </a:xfrm>
          <a:prstGeom prst="rect">
            <a:avLst/>
          </a:prstGeom>
          <a:noFill/>
        </p:spPr>
        <p:txBody>
          <a:bodyPr wrap="square">
            <a:spAutoFit/>
          </a:bodyPr>
          <a:lstStyle/>
          <a:p>
            <a:pPr algn="ctr"/>
            <a:r>
              <a:rPr sz="1400" b="1" i="0">
                <a:solidFill>
                  <a:srgbClr val="FFFFFF"/>
                </a:solidFill>
                <a:latin typeface="Calibri"/>
              </a:rPr>
              <a:t>Dataset</a:t>
            </a:r>
          </a:p>
        </p:txBody>
      </p:sp>
      <p:sp>
        <p:nvSpPr>
          <p:cNvPr id="32" name="TextBox 31"/>
          <p:cNvSpPr txBox="1"/>
          <p:nvPr/>
        </p:nvSpPr>
        <p:spPr>
          <a:xfrm>
            <a:off x="7356348" y="2743200"/>
            <a:ext cx="1828800" cy="1828800"/>
          </a:xfrm>
          <a:prstGeom prst="rect">
            <a:avLst/>
          </a:prstGeom>
          <a:noFill/>
        </p:spPr>
        <p:txBody>
          <a:bodyPr wrap="square">
            <a:spAutoFit/>
          </a:bodyPr>
          <a:lstStyle/>
          <a:p>
            <a:pPr algn="ctr"/>
            <a:r>
              <a:rPr sz="1150" b="0" i="0">
                <a:solidFill>
                  <a:srgbClr val="8BADC8"/>
                </a:solidFill>
                <a:latin typeface="Calibri"/>
              </a:rPr>
              <a:t>12 320 posições etiquetadas</a:t>
            </a:r>
          </a:p>
        </p:txBody>
      </p:sp>
      <p:sp>
        <p:nvSpPr>
          <p:cNvPr id="33" name="TextBox 32"/>
          <p:cNvSpPr txBox="1"/>
          <p:nvPr/>
        </p:nvSpPr>
        <p:spPr>
          <a:xfrm>
            <a:off x="9294876" y="2286000"/>
            <a:ext cx="292608" cy="457200"/>
          </a:xfrm>
          <a:prstGeom prst="rect">
            <a:avLst/>
          </a:prstGeom>
          <a:noFill/>
        </p:spPr>
        <p:txBody>
          <a:bodyPr wrap="square">
            <a:spAutoFit/>
          </a:bodyPr>
          <a:lstStyle/>
          <a:p>
            <a:pPr algn="ctr"/>
            <a:r>
              <a:rPr sz="1600" b="1" i="0">
                <a:solidFill>
                  <a:srgbClr val="00B4D8"/>
                </a:solidFill>
                <a:latin typeface="Calibri"/>
              </a:rPr>
              <a:t>→</a:t>
            </a:r>
          </a:p>
        </p:txBody>
      </p:sp>
      <p:sp>
        <p:nvSpPr>
          <p:cNvPr id="34" name="Rectangle 33"/>
          <p:cNvSpPr/>
          <p:nvPr/>
        </p:nvSpPr>
        <p:spPr>
          <a:xfrm>
            <a:off x="9441180" y="1280160"/>
            <a:ext cx="2011680" cy="347472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441180" y="1280160"/>
            <a:ext cx="2011680" cy="7315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0190988" y="1508760"/>
            <a:ext cx="512064" cy="5120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90988" y="1490472"/>
            <a:ext cx="512064" cy="530352"/>
          </a:xfrm>
          <a:prstGeom prst="rect">
            <a:avLst/>
          </a:prstGeom>
          <a:noFill/>
        </p:spPr>
        <p:txBody>
          <a:bodyPr wrap="square">
            <a:spAutoFit/>
          </a:bodyPr>
          <a:lstStyle/>
          <a:p>
            <a:pPr algn="ctr"/>
            <a:r>
              <a:rPr sz="2000" b="1" i="0">
                <a:solidFill>
                  <a:srgbClr val="0F172A"/>
                </a:solidFill>
                <a:latin typeface="Calibri"/>
              </a:rPr>
              <a:t>5</a:t>
            </a:r>
          </a:p>
        </p:txBody>
      </p:sp>
      <p:sp>
        <p:nvSpPr>
          <p:cNvPr id="38" name="TextBox 37"/>
          <p:cNvSpPr txBox="1"/>
          <p:nvPr/>
        </p:nvSpPr>
        <p:spPr>
          <a:xfrm>
            <a:off x="9532620" y="2176272"/>
            <a:ext cx="1828800" cy="502920"/>
          </a:xfrm>
          <a:prstGeom prst="rect">
            <a:avLst/>
          </a:prstGeom>
          <a:noFill/>
        </p:spPr>
        <p:txBody>
          <a:bodyPr wrap="square">
            <a:spAutoFit/>
          </a:bodyPr>
          <a:lstStyle/>
          <a:p>
            <a:pPr algn="ctr"/>
            <a:r>
              <a:rPr sz="1400" b="1" i="0">
                <a:solidFill>
                  <a:srgbClr val="FFFFFF"/>
                </a:solidFill>
                <a:latin typeface="Calibri"/>
              </a:rPr>
              <a:t>ID3</a:t>
            </a:r>
          </a:p>
        </p:txBody>
      </p:sp>
      <p:sp>
        <p:nvSpPr>
          <p:cNvPr id="39" name="TextBox 38"/>
          <p:cNvSpPr txBox="1"/>
          <p:nvPr/>
        </p:nvSpPr>
        <p:spPr>
          <a:xfrm>
            <a:off x="9532620" y="2743200"/>
            <a:ext cx="1828800" cy="1828800"/>
          </a:xfrm>
          <a:prstGeom prst="rect">
            <a:avLst/>
          </a:prstGeom>
          <a:noFill/>
        </p:spPr>
        <p:txBody>
          <a:bodyPr wrap="square">
            <a:spAutoFit/>
          </a:bodyPr>
          <a:lstStyle/>
          <a:p>
            <a:pPr algn="ctr"/>
            <a:r>
              <a:rPr sz="1150" b="0" i="0">
                <a:solidFill>
                  <a:srgbClr val="8BADC8"/>
                </a:solidFill>
                <a:latin typeface="Calibri"/>
              </a:rPr>
              <a:t>Árvore de decisão implementada de raiz</a:t>
            </a:r>
          </a:p>
        </p:txBody>
      </p:sp>
      <p:sp>
        <p:nvSpPr>
          <p:cNvPr id="40" name="TextBox 39"/>
          <p:cNvSpPr txBox="1"/>
          <p:nvPr/>
        </p:nvSpPr>
        <p:spPr>
          <a:xfrm>
            <a:off x="457200" y="4983480"/>
            <a:ext cx="11247120" cy="457200"/>
          </a:xfrm>
          <a:prstGeom prst="rect">
            <a:avLst/>
          </a:prstGeom>
          <a:noFill/>
        </p:spPr>
        <p:txBody>
          <a:bodyPr wrap="square">
            <a:spAutoFit/>
          </a:bodyPr>
          <a:lstStyle/>
          <a:p>
            <a:pPr algn="ctr"/>
            <a:r>
              <a:rPr sz="1400" b="0" i="1">
                <a:solidFill>
                  <a:srgbClr val="8BADC8"/>
                </a:solidFill>
                <a:latin typeface="Calibri"/>
              </a:rPr>
              <a:t>Cada módulo foi implementado de raiz em Python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MCTS e Variantes</a:t>
            </a:r>
          </a:p>
        </p:txBody>
      </p:sp>
      <p:sp>
        <p:nvSpPr>
          <p:cNvPr id="6" name="Rectangle 5"/>
          <p:cNvSpPr/>
          <p:nvPr/>
        </p:nvSpPr>
        <p:spPr>
          <a:xfrm>
            <a:off x="365760" y="1143000"/>
            <a:ext cx="5029200" cy="146304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88720"/>
            <a:ext cx="4663440" cy="457200"/>
          </a:xfrm>
          <a:prstGeom prst="rect">
            <a:avLst/>
          </a:prstGeom>
          <a:noFill/>
        </p:spPr>
        <p:txBody>
          <a:bodyPr wrap="square">
            <a:spAutoFit/>
          </a:bodyPr>
          <a:lstStyle/>
          <a:p>
            <a:pPr algn="l"/>
            <a:r>
              <a:rPr sz="1300" b="1" i="0">
                <a:solidFill>
                  <a:srgbClr val="00B4D8"/>
                </a:solidFill>
                <a:latin typeface="Calibri"/>
              </a:rPr>
              <a:t>Base: UCT (Upper Confidence Bound for Trees)</a:t>
            </a:r>
          </a:p>
        </p:txBody>
      </p:sp>
      <p:sp>
        <p:nvSpPr>
          <p:cNvPr id="8" name="TextBox 7"/>
          <p:cNvSpPr txBox="1"/>
          <p:nvPr/>
        </p:nvSpPr>
        <p:spPr>
          <a:xfrm>
            <a:off x="548640" y="1600200"/>
            <a:ext cx="4663440" cy="457200"/>
          </a:xfrm>
          <a:prstGeom prst="rect">
            <a:avLst/>
          </a:prstGeom>
          <a:noFill/>
        </p:spPr>
        <p:txBody>
          <a:bodyPr wrap="square">
            <a:spAutoFit/>
          </a:bodyPr>
          <a:lstStyle/>
          <a:p>
            <a:pPr algn="l"/>
            <a:r>
              <a:rPr sz="1300" b="0" i="0">
                <a:solidFill>
                  <a:srgbClr val="FFFFFF"/>
                </a:solidFill>
                <a:latin typeface="Consolas"/>
              </a:rPr>
              <a:t>UCT = Q(s,a)/N(s,a) + C × √(ln N(s) / N(s,a))</a:t>
            </a:r>
          </a:p>
        </p:txBody>
      </p:sp>
      <p:sp>
        <p:nvSpPr>
          <p:cNvPr id="10" name="Rectangle 9"/>
          <p:cNvSpPr/>
          <p:nvPr/>
        </p:nvSpPr>
        <p:spPr>
          <a:xfrm>
            <a:off x="365760" y="2788920"/>
            <a:ext cx="2724912" cy="24688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2788920"/>
            <a:ext cx="272491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926079"/>
            <a:ext cx="2450592" cy="457200"/>
          </a:xfrm>
          <a:prstGeom prst="rect">
            <a:avLst/>
          </a:prstGeom>
          <a:noFill/>
        </p:spPr>
        <p:txBody>
          <a:bodyPr wrap="square">
            <a:spAutoFit/>
          </a:bodyPr>
          <a:lstStyle/>
          <a:p>
            <a:pPr algn="l"/>
            <a:r>
              <a:rPr sz="1350" b="1" i="0">
                <a:solidFill>
                  <a:srgbClr val="00B4D8"/>
                </a:solidFill>
                <a:latin typeface="Calibri"/>
              </a:rPr>
              <a:t>Standard UCT</a:t>
            </a:r>
          </a:p>
        </p:txBody>
      </p:sp>
      <p:sp>
        <p:nvSpPr>
          <p:cNvPr id="13" name="TextBox 12"/>
          <p:cNvSpPr txBox="1"/>
          <p:nvPr/>
        </p:nvSpPr>
        <p:spPr>
          <a:xfrm>
            <a:off x="502920" y="3474720"/>
            <a:ext cx="2450592" cy="1645920"/>
          </a:xfrm>
          <a:prstGeom prst="rect">
            <a:avLst/>
          </a:prstGeom>
          <a:noFill/>
        </p:spPr>
        <p:txBody>
          <a:bodyPr wrap="square">
            <a:spAutoFit/>
          </a:bodyPr>
          <a:lstStyle/>
          <a:p>
            <a:pPr algn="l"/>
            <a:r>
              <a:rPr sz="1200" b="0" i="0">
                <a:solidFill>
                  <a:srgbClr val="CAE0F5"/>
                </a:solidFill>
                <a:latin typeface="Calibri"/>
              </a:rPr>
              <a:t>UCT puro, sem modificações</a:t>
            </a:r>
          </a:p>
        </p:txBody>
      </p:sp>
      <p:sp>
        <p:nvSpPr>
          <p:cNvPr id="14" name="Rectangle 13"/>
          <p:cNvSpPr/>
          <p:nvPr/>
        </p:nvSpPr>
        <p:spPr>
          <a:xfrm>
            <a:off x="3236976" y="2788920"/>
            <a:ext cx="2724912" cy="24688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36976" y="2788920"/>
            <a:ext cx="2724912"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74136" y="2926079"/>
            <a:ext cx="2450592" cy="457200"/>
          </a:xfrm>
          <a:prstGeom prst="rect">
            <a:avLst/>
          </a:prstGeom>
          <a:noFill/>
        </p:spPr>
        <p:txBody>
          <a:bodyPr wrap="square">
            <a:spAutoFit/>
          </a:bodyPr>
          <a:lstStyle/>
          <a:p>
            <a:pPr algn="l"/>
            <a:r>
              <a:rPr sz="1350" b="1" i="0">
                <a:solidFill>
                  <a:srgbClr val="FFA500"/>
                </a:solidFill>
                <a:latin typeface="Calibri"/>
              </a:rPr>
              <a:t>RAVE</a:t>
            </a:r>
          </a:p>
        </p:txBody>
      </p:sp>
      <p:sp>
        <p:nvSpPr>
          <p:cNvPr id="17" name="TextBox 16"/>
          <p:cNvSpPr txBox="1"/>
          <p:nvPr/>
        </p:nvSpPr>
        <p:spPr>
          <a:xfrm>
            <a:off x="3374136" y="3474720"/>
            <a:ext cx="2450592" cy="1645920"/>
          </a:xfrm>
          <a:prstGeom prst="rect">
            <a:avLst/>
          </a:prstGeom>
          <a:noFill/>
        </p:spPr>
        <p:txBody>
          <a:bodyPr wrap="square">
            <a:spAutoFit/>
          </a:bodyPr>
          <a:lstStyle/>
          <a:p>
            <a:pPr algn="l"/>
            <a:r>
              <a:rPr sz="1200" b="0" i="0">
                <a:solidFill>
                  <a:srgbClr val="CAE0F5"/>
                </a:solidFill>
                <a:latin typeface="Calibri"/>
              </a:rPr>
              <a:t>Rapid Action Value Estimation
Partilha estatísticas entre nós</a:t>
            </a:r>
          </a:p>
        </p:txBody>
      </p:sp>
      <p:sp>
        <p:nvSpPr>
          <p:cNvPr id="18" name="Rectangle 17"/>
          <p:cNvSpPr/>
          <p:nvPr/>
        </p:nvSpPr>
        <p:spPr>
          <a:xfrm>
            <a:off x="6108192" y="2788920"/>
            <a:ext cx="2724912" cy="24688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08192" y="2788920"/>
            <a:ext cx="2724912" cy="54864"/>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2926079"/>
            <a:ext cx="2450592" cy="457200"/>
          </a:xfrm>
          <a:prstGeom prst="rect">
            <a:avLst/>
          </a:prstGeom>
          <a:noFill/>
        </p:spPr>
        <p:txBody>
          <a:bodyPr wrap="square">
            <a:spAutoFit/>
          </a:bodyPr>
          <a:lstStyle/>
          <a:p>
            <a:pPr algn="l"/>
            <a:r>
              <a:rPr sz="1350" b="1" i="0">
                <a:solidFill>
                  <a:srgbClr val="06D68A"/>
                </a:solidFill>
                <a:latin typeface="Calibri"/>
              </a:rPr>
              <a:t>Top-K</a:t>
            </a:r>
          </a:p>
        </p:txBody>
      </p:sp>
      <p:sp>
        <p:nvSpPr>
          <p:cNvPr id="21" name="TextBox 20"/>
          <p:cNvSpPr txBox="1"/>
          <p:nvPr/>
        </p:nvSpPr>
        <p:spPr>
          <a:xfrm>
            <a:off x="6245352" y="3474720"/>
            <a:ext cx="2450592" cy="1645920"/>
          </a:xfrm>
          <a:prstGeom prst="rect">
            <a:avLst/>
          </a:prstGeom>
          <a:noFill/>
        </p:spPr>
        <p:txBody>
          <a:bodyPr wrap="square">
            <a:spAutoFit/>
          </a:bodyPr>
          <a:lstStyle/>
          <a:p>
            <a:pPr algn="l"/>
            <a:r>
              <a:rPr sz="1200" b="0" i="0">
                <a:solidFill>
                  <a:srgbClr val="CAE0F5"/>
                </a:solidFill>
                <a:latin typeface="Calibri"/>
              </a:rPr>
              <a:t>Considera apenas os K melhores
movimentos em cada expansão</a:t>
            </a:r>
          </a:p>
        </p:txBody>
      </p:sp>
      <p:sp>
        <p:nvSpPr>
          <p:cNvPr id="22" name="Rectangle 21"/>
          <p:cNvSpPr/>
          <p:nvPr/>
        </p:nvSpPr>
        <p:spPr>
          <a:xfrm>
            <a:off x="8979408" y="2788920"/>
            <a:ext cx="2724912" cy="24688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79408" y="2788920"/>
            <a:ext cx="2724912"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16568" y="2926079"/>
            <a:ext cx="2450592" cy="457200"/>
          </a:xfrm>
          <a:prstGeom prst="rect">
            <a:avLst/>
          </a:prstGeom>
          <a:noFill/>
        </p:spPr>
        <p:txBody>
          <a:bodyPr wrap="square">
            <a:spAutoFit/>
          </a:bodyPr>
          <a:lstStyle/>
          <a:p>
            <a:pPr algn="l"/>
            <a:r>
              <a:rPr sz="1350" b="1" i="0">
                <a:solidFill>
                  <a:srgbClr val="FF6B6B"/>
                </a:solidFill>
                <a:latin typeface="Calibri"/>
              </a:rPr>
              <a:t>Heurístico 🏆</a:t>
            </a:r>
          </a:p>
        </p:txBody>
      </p:sp>
      <p:sp>
        <p:nvSpPr>
          <p:cNvPr id="25" name="TextBox 24"/>
          <p:cNvSpPr txBox="1"/>
          <p:nvPr/>
        </p:nvSpPr>
        <p:spPr>
          <a:xfrm>
            <a:off x="9116568" y="3474720"/>
            <a:ext cx="2450592" cy="1645920"/>
          </a:xfrm>
          <a:prstGeom prst="rect">
            <a:avLst/>
          </a:prstGeom>
          <a:noFill/>
        </p:spPr>
        <p:txBody>
          <a:bodyPr wrap="square">
            <a:spAutoFit/>
          </a:bodyPr>
          <a:lstStyle/>
          <a:p>
            <a:pPr algn="l"/>
            <a:r>
              <a:rPr sz="1200" b="0" i="0">
                <a:solidFill>
                  <a:srgbClr val="CAE0F5"/>
                </a:solidFill>
                <a:latin typeface="Calibri"/>
              </a:rPr>
              <a:t>UCT + avaliação heurística
do tabuleiro em simulações</a:t>
            </a:r>
          </a:p>
        </p:txBody>
      </p:sp>
      <p:sp>
        <p:nvSpPr>
          <p:cNvPr id="26" name="Rectangle 25"/>
          <p:cNvSpPr/>
          <p:nvPr/>
        </p:nvSpPr>
        <p:spPr>
          <a:xfrm>
            <a:off x="5577840" y="1143000"/>
            <a:ext cx="6217920" cy="146304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60720" y="1188720"/>
            <a:ext cx="5852160" cy="365760"/>
          </a:xfrm>
          <a:prstGeom prst="rect">
            <a:avLst/>
          </a:prstGeom>
          <a:noFill/>
        </p:spPr>
        <p:txBody>
          <a:bodyPr wrap="square">
            <a:spAutoFit/>
          </a:bodyPr>
          <a:lstStyle/>
          <a:p>
            <a:pPr algn="l"/>
            <a:r>
              <a:rPr sz="1300" b="1" i="0">
                <a:solidFill>
                  <a:srgbClr val="FFA500"/>
                </a:solidFill>
                <a:latin typeface="Calibri"/>
              </a:rPr>
              <a:t>Fases do MCTS</a:t>
            </a:r>
          </a:p>
        </p:txBody>
      </p:sp>
      <p:sp>
        <p:nvSpPr>
          <p:cNvPr id="28" name="TextBox 27"/>
          <p:cNvSpPr txBox="1"/>
          <p:nvPr/>
        </p:nvSpPr>
        <p:spPr>
          <a:xfrm>
            <a:off x="5760720" y="1572768"/>
            <a:ext cx="5852160" cy="411480"/>
          </a:xfrm>
          <a:prstGeom prst="rect">
            <a:avLst/>
          </a:prstGeom>
          <a:noFill/>
        </p:spPr>
        <p:txBody>
          <a:bodyPr wrap="square">
            <a:spAutoFit/>
          </a:bodyPr>
          <a:lstStyle/>
          <a:p>
            <a:pPr algn="l"/>
            <a:r>
              <a:rPr sz="1150" b="0" i="0">
                <a:solidFill>
                  <a:srgbClr val="FFFFFF"/>
                </a:solidFill>
                <a:latin typeface="Calibri"/>
              </a:rPr>
              <a:t>Seleção  →  Expansão  →  Simulação  →  Retropropagação</a:t>
            </a:r>
          </a:p>
        </p:txBody>
      </p:sp>
      <p:sp>
        <p:nvSpPr>
          <p:cNvPr id="29" name="TextBox 28"/>
          <p:cNvSpPr txBox="1"/>
          <p:nvPr/>
        </p:nvSpPr>
        <p:spPr>
          <a:xfrm>
            <a:off x="5760720" y="1984248"/>
            <a:ext cx="5852160" cy="411480"/>
          </a:xfrm>
          <a:prstGeom prst="rect">
            <a:avLst/>
          </a:prstGeom>
          <a:noFill/>
        </p:spPr>
        <p:txBody>
          <a:bodyPr wrap="square">
            <a:spAutoFit/>
          </a:bodyPr>
          <a:lstStyle/>
          <a:p>
            <a:pPr algn="l"/>
            <a:r>
              <a:rPr sz="1100" b="0" i="1">
                <a:solidFill>
                  <a:srgbClr val="8BADC8"/>
                </a:solidFill>
                <a:latin typeface="Calibri"/>
              </a:rPr>
              <a:t>Iterações por jogada: 500–1000 simulações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Resultados dos Torneios MCTS</a:t>
            </a:r>
          </a:p>
        </p:txBody>
      </p:sp>
      <p:sp>
        <p:nvSpPr>
          <p:cNvPr id="5" name="TextBox 4"/>
          <p:cNvSpPr txBox="1"/>
          <p:nvPr/>
        </p:nvSpPr>
        <p:spPr>
          <a:xfrm>
            <a:off x="228600" y="713232"/>
            <a:ext cx="11430000" cy="365760"/>
          </a:xfrm>
          <a:prstGeom prst="rect">
            <a:avLst/>
          </a:prstGeom>
          <a:noFill/>
        </p:spPr>
        <p:txBody>
          <a:bodyPr wrap="square">
            <a:spAutoFit/>
          </a:bodyPr>
          <a:lstStyle/>
          <a:p>
            <a:pPr algn="l"/>
            <a:r>
              <a:rPr sz="1300" b="0" i="0">
                <a:solidFill>
                  <a:srgbClr val="00B4D8"/>
                </a:solidFill>
                <a:latin typeface="Calibri"/>
              </a:rPr>
              <a:t>Round-robin entre as 4 variantes</a:t>
            </a:r>
          </a:p>
        </p:txBody>
      </p:sp>
      <p:graphicFrame>
        <p:nvGraphicFramePr>
          <p:cNvPr id="6" name="Chart 5"/>
          <p:cNvGraphicFramePr>
            <a:graphicFrameLocks noGrp="1"/>
          </p:cNvGraphicFramePr>
          <p:nvPr/>
        </p:nvGraphicFramePr>
        <p:xfrm>
          <a:off x="457200" y="1188720"/>
          <a:ext cx="64008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p:cNvSpPr/>
          <p:nvPr/>
        </p:nvSpPr>
        <p:spPr>
          <a:xfrm>
            <a:off x="7213600" y="2394373"/>
            <a:ext cx="4663440" cy="2069253"/>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13600" y="3198166"/>
            <a:ext cx="4297680" cy="461665"/>
          </a:xfrm>
          <a:prstGeom prst="rect">
            <a:avLst/>
          </a:prstGeom>
          <a:noFill/>
        </p:spPr>
        <p:txBody>
          <a:bodyPr wrap="square">
            <a:spAutoFit/>
          </a:bodyPr>
          <a:lstStyle/>
          <a:p>
            <a:pPr algn="ctr"/>
            <a:r>
              <a:rPr lang="pt-PT" sz="1200" dirty="0">
                <a:solidFill>
                  <a:srgbClr val="CAE0F5"/>
                </a:solidFill>
                <a:latin typeface="Calibri"/>
              </a:rPr>
              <a:t>Conclui-se que o</a:t>
            </a:r>
            <a:r>
              <a:rPr sz="1200" dirty="0">
                <a:solidFill>
                  <a:srgbClr val="CAE0F5"/>
                </a:solidFill>
                <a:latin typeface="Calibri"/>
              </a:rPr>
              <a:t> MCTS</a:t>
            </a:r>
            <a:r>
              <a:rPr lang="pt-PT" sz="1200" dirty="0">
                <a:solidFill>
                  <a:srgbClr val="CAE0F5"/>
                </a:solidFill>
                <a:latin typeface="Calibri"/>
              </a:rPr>
              <a:t> heurístico</a:t>
            </a:r>
            <a:r>
              <a:rPr sz="1200" dirty="0">
                <a:solidFill>
                  <a:srgbClr val="CAE0F5"/>
                </a:solidFill>
                <a:latin typeface="Calibri"/>
              </a:rPr>
              <a:t> </a:t>
            </a:r>
            <a:r>
              <a:rPr lang="pt-PT" sz="1200" dirty="0">
                <a:solidFill>
                  <a:srgbClr val="CAE0F5"/>
                </a:solidFill>
                <a:latin typeface="Calibri"/>
              </a:rPr>
              <a:t>é</a:t>
            </a:r>
            <a:r>
              <a:rPr sz="1200" dirty="0">
                <a:solidFill>
                  <a:srgbClr val="CAE0F5"/>
                </a:solidFill>
                <a:latin typeface="Calibri"/>
              </a:rPr>
              <a:t> </a:t>
            </a:r>
            <a:r>
              <a:rPr lang="pt-PT" sz="1200" dirty="0">
                <a:solidFill>
                  <a:srgbClr val="CAE0F5"/>
                </a:solidFill>
                <a:latin typeface="Calibri"/>
              </a:rPr>
              <a:t>o </a:t>
            </a:r>
            <a:r>
              <a:rPr sz="1200" dirty="0" err="1">
                <a:solidFill>
                  <a:srgbClr val="CAE0F5"/>
                </a:solidFill>
                <a:latin typeface="Calibri"/>
              </a:rPr>
              <a:t>melhor</a:t>
            </a:r>
            <a:r>
              <a:rPr sz="1200" dirty="0">
                <a:solidFill>
                  <a:srgbClr val="CAE0F5"/>
                </a:solidFill>
                <a:latin typeface="Calibri"/>
              </a:rPr>
              <a:t> </a:t>
            </a:r>
            <a:r>
              <a:rPr sz="1200" dirty="0" err="1">
                <a:solidFill>
                  <a:srgbClr val="CAE0F5"/>
                </a:solidFill>
                <a:latin typeface="Calibri"/>
              </a:rPr>
              <a:t>agente</a:t>
            </a:r>
            <a:r>
              <a:rPr lang="pt-PT" sz="1200" dirty="0">
                <a:solidFill>
                  <a:srgbClr val="CAE0F5"/>
                </a:solidFill>
                <a:latin typeface="Calibri"/>
              </a:rPr>
              <a:t> para passar à fase seguinte</a:t>
            </a:r>
            <a:endParaRPr sz="1200" dirty="0">
              <a:solidFill>
                <a:srgbClr val="CAE0F5"/>
              </a:solidFill>
              <a:latin typeface="Calibri"/>
            </a:endParaRPr>
          </a:p>
        </p:txBody>
      </p:sp>
      <p:sp>
        <p:nvSpPr>
          <p:cNvPr id="10" name="Rectangle 9"/>
          <p:cNvSpPr/>
          <p:nvPr/>
        </p:nvSpPr>
        <p:spPr>
          <a:xfrm>
            <a:off x="457200" y="5440680"/>
            <a:ext cx="11704320" cy="59436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5486400"/>
            <a:ext cx="11338560" cy="457200"/>
          </a:xfrm>
          <a:prstGeom prst="rect">
            <a:avLst/>
          </a:prstGeom>
          <a:noFill/>
        </p:spPr>
        <p:txBody>
          <a:bodyPr wrap="square">
            <a:spAutoFit/>
          </a:bodyPr>
          <a:lstStyle/>
          <a:p>
            <a:pPr algn="ctr"/>
            <a:r>
              <a:rPr sz="1400" b="1" i="0">
                <a:solidFill>
                  <a:srgbClr val="FFFFFF"/>
                </a:solidFill>
                <a:latin typeface="Calibri"/>
              </a:rPr>
              <a:t>🏆  Heurístico MCTS selecionado para geração do dataset de treino do ID3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Geração do Dataset</a:t>
            </a:r>
          </a:p>
        </p:txBody>
      </p:sp>
      <p:sp>
        <p:nvSpPr>
          <p:cNvPr id="6" name="Rectangle 5"/>
          <p:cNvSpPr/>
          <p:nvPr/>
        </p:nvSpPr>
        <p:spPr>
          <a:xfrm>
            <a:off x="676655" y="1234440"/>
            <a:ext cx="2468880" cy="20116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76655" y="1234440"/>
            <a:ext cx="24688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5" y="1965960"/>
            <a:ext cx="2286000" cy="492443"/>
          </a:xfrm>
          <a:prstGeom prst="rect">
            <a:avLst/>
          </a:prstGeom>
          <a:noFill/>
        </p:spPr>
        <p:txBody>
          <a:bodyPr wrap="square">
            <a:spAutoFit/>
          </a:bodyPr>
          <a:lstStyle/>
          <a:p>
            <a:pPr algn="ctr"/>
            <a:r>
              <a:rPr sz="1300" b="0" i="0" dirty="0">
                <a:solidFill>
                  <a:srgbClr val="FFFFFF"/>
                </a:solidFill>
                <a:latin typeface="Calibri"/>
              </a:rPr>
              <a:t>MCTS</a:t>
            </a:r>
            <a:r>
              <a:rPr lang="pt-PT" sz="1300" b="0" i="0" dirty="0">
                <a:solidFill>
                  <a:srgbClr val="FFFFFF"/>
                </a:solidFill>
                <a:latin typeface="Calibri"/>
              </a:rPr>
              <a:t> heurístico</a:t>
            </a:r>
            <a:r>
              <a:rPr sz="1300" b="0" i="0" dirty="0">
                <a:solidFill>
                  <a:srgbClr val="FFFFFF"/>
                </a:solidFill>
                <a:latin typeface="Calibri"/>
              </a:rPr>
              <a:t>
</a:t>
            </a:r>
            <a:r>
              <a:rPr sz="1300" b="0" i="0" dirty="0" err="1">
                <a:solidFill>
                  <a:srgbClr val="FFFFFF"/>
                </a:solidFill>
                <a:latin typeface="Calibri"/>
              </a:rPr>
              <a:t>joga</a:t>
            </a:r>
            <a:r>
              <a:rPr sz="1300" b="0" i="0" dirty="0">
                <a:solidFill>
                  <a:srgbClr val="FFFFFF"/>
                </a:solidFill>
                <a:latin typeface="Calibri"/>
              </a:rPr>
              <a:t> </a:t>
            </a:r>
            <a:r>
              <a:rPr sz="1300" b="0" i="0" dirty="0" err="1">
                <a:solidFill>
                  <a:srgbClr val="FFFFFF"/>
                </a:solidFill>
                <a:latin typeface="Calibri"/>
              </a:rPr>
              <a:t>partidas</a:t>
            </a:r>
            <a:endParaRPr sz="1300" b="0" i="0" dirty="0">
              <a:solidFill>
                <a:srgbClr val="FFFFFF"/>
              </a:solidFill>
              <a:latin typeface="Calibri"/>
            </a:endParaRPr>
          </a:p>
        </p:txBody>
      </p:sp>
      <p:sp>
        <p:nvSpPr>
          <p:cNvPr id="10" name="TextBox 9"/>
          <p:cNvSpPr txBox="1"/>
          <p:nvPr/>
        </p:nvSpPr>
        <p:spPr>
          <a:xfrm>
            <a:off x="3182111" y="1920240"/>
            <a:ext cx="566928" cy="502920"/>
          </a:xfrm>
          <a:prstGeom prst="rect">
            <a:avLst/>
          </a:prstGeom>
          <a:noFill/>
        </p:spPr>
        <p:txBody>
          <a:bodyPr wrap="square">
            <a:spAutoFit/>
          </a:bodyPr>
          <a:lstStyle/>
          <a:p>
            <a:pPr algn="ctr"/>
            <a:r>
              <a:rPr sz="1800" b="1" i="0">
                <a:solidFill>
                  <a:srgbClr val="00B4D8"/>
                </a:solidFill>
                <a:latin typeface="Calibri"/>
              </a:rPr>
              <a:t>→</a:t>
            </a:r>
          </a:p>
        </p:txBody>
      </p:sp>
      <p:sp>
        <p:nvSpPr>
          <p:cNvPr id="11" name="Rectangle 10"/>
          <p:cNvSpPr/>
          <p:nvPr/>
        </p:nvSpPr>
        <p:spPr>
          <a:xfrm>
            <a:off x="3465575" y="1234440"/>
            <a:ext cx="2468880" cy="20116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65575" y="1234440"/>
            <a:ext cx="246888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57015" y="1965960"/>
            <a:ext cx="2286000" cy="1097280"/>
          </a:xfrm>
          <a:prstGeom prst="rect">
            <a:avLst/>
          </a:prstGeom>
          <a:noFill/>
        </p:spPr>
        <p:txBody>
          <a:bodyPr wrap="square">
            <a:spAutoFit/>
          </a:bodyPr>
          <a:lstStyle/>
          <a:p>
            <a:pPr algn="ctr"/>
            <a:r>
              <a:rPr sz="1300" b="0" i="0">
                <a:solidFill>
                  <a:srgbClr val="FFFFFF"/>
                </a:solidFill>
                <a:latin typeface="Calibri"/>
              </a:rPr>
              <a:t>Regista cada
estado do jogo</a:t>
            </a:r>
          </a:p>
        </p:txBody>
      </p:sp>
      <p:sp>
        <p:nvSpPr>
          <p:cNvPr id="15" name="TextBox 14"/>
          <p:cNvSpPr txBox="1"/>
          <p:nvPr/>
        </p:nvSpPr>
        <p:spPr>
          <a:xfrm>
            <a:off x="5971032" y="1920240"/>
            <a:ext cx="566928" cy="502920"/>
          </a:xfrm>
          <a:prstGeom prst="rect">
            <a:avLst/>
          </a:prstGeom>
          <a:noFill/>
        </p:spPr>
        <p:txBody>
          <a:bodyPr wrap="square">
            <a:spAutoFit/>
          </a:bodyPr>
          <a:lstStyle/>
          <a:p>
            <a:pPr algn="ctr"/>
            <a:r>
              <a:rPr sz="1800" b="1" i="0">
                <a:solidFill>
                  <a:srgbClr val="00B4D8"/>
                </a:solidFill>
                <a:latin typeface="Calibri"/>
              </a:rPr>
              <a:t>→</a:t>
            </a:r>
          </a:p>
        </p:txBody>
      </p:sp>
      <p:sp>
        <p:nvSpPr>
          <p:cNvPr id="16" name="Rectangle 15"/>
          <p:cNvSpPr/>
          <p:nvPr/>
        </p:nvSpPr>
        <p:spPr>
          <a:xfrm>
            <a:off x="6254496" y="1234440"/>
            <a:ext cx="2468880" cy="20116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54496" y="1234440"/>
            <a:ext cx="2468880" cy="64008"/>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45936" y="1965960"/>
            <a:ext cx="2286000" cy="1097280"/>
          </a:xfrm>
          <a:prstGeom prst="rect">
            <a:avLst/>
          </a:prstGeom>
          <a:noFill/>
        </p:spPr>
        <p:txBody>
          <a:bodyPr wrap="square">
            <a:spAutoFit/>
          </a:bodyPr>
          <a:lstStyle/>
          <a:p>
            <a:pPr algn="ctr"/>
            <a:r>
              <a:rPr sz="1300" b="0" i="0">
                <a:solidFill>
                  <a:srgbClr val="FFFFFF"/>
                </a:solidFill>
                <a:latin typeface="Calibri"/>
              </a:rPr>
              <a:t>Etiqueta com a
ação escolhida</a:t>
            </a:r>
          </a:p>
        </p:txBody>
      </p:sp>
      <p:sp>
        <p:nvSpPr>
          <p:cNvPr id="20" name="TextBox 19"/>
          <p:cNvSpPr txBox="1"/>
          <p:nvPr/>
        </p:nvSpPr>
        <p:spPr>
          <a:xfrm>
            <a:off x="8759951" y="1920240"/>
            <a:ext cx="566928" cy="502920"/>
          </a:xfrm>
          <a:prstGeom prst="rect">
            <a:avLst/>
          </a:prstGeom>
          <a:noFill/>
        </p:spPr>
        <p:txBody>
          <a:bodyPr wrap="square">
            <a:spAutoFit/>
          </a:bodyPr>
          <a:lstStyle/>
          <a:p>
            <a:pPr algn="ctr"/>
            <a:r>
              <a:rPr sz="1800" b="1" i="0">
                <a:solidFill>
                  <a:srgbClr val="00B4D8"/>
                </a:solidFill>
                <a:latin typeface="Calibri"/>
              </a:rPr>
              <a:t>→</a:t>
            </a:r>
          </a:p>
        </p:txBody>
      </p:sp>
      <p:sp>
        <p:nvSpPr>
          <p:cNvPr id="21" name="Rectangle 20"/>
          <p:cNvSpPr/>
          <p:nvPr/>
        </p:nvSpPr>
        <p:spPr>
          <a:xfrm>
            <a:off x="9043416" y="1234440"/>
            <a:ext cx="2468880" cy="201168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43416" y="1234440"/>
            <a:ext cx="2468880" cy="64008"/>
          </a:xfrm>
          <a:prstGeom prst="rect">
            <a:avLst/>
          </a:prstGeom>
          <a:solidFill>
            <a:srgbClr val="A05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34856" y="1965960"/>
            <a:ext cx="2286000" cy="1097280"/>
          </a:xfrm>
          <a:prstGeom prst="rect">
            <a:avLst/>
          </a:prstGeom>
          <a:noFill/>
        </p:spPr>
        <p:txBody>
          <a:bodyPr wrap="square">
            <a:spAutoFit/>
          </a:bodyPr>
          <a:lstStyle/>
          <a:p>
            <a:pPr algn="ctr"/>
            <a:r>
              <a:rPr sz="1300" b="0" i="0">
                <a:solidFill>
                  <a:srgbClr val="FFFFFF"/>
                </a:solidFill>
                <a:latin typeface="Calibri"/>
              </a:rPr>
              <a:t>12 320
posições</a:t>
            </a:r>
          </a:p>
        </p:txBody>
      </p:sp>
      <p:sp>
        <p:nvSpPr>
          <p:cNvPr id="25" name="Rectangle 24"/>
          <p:cNvSpPr/>
          <p:nvPr/>
        </p:nvSpPr>
        <p:spPr>
          <a:xfrm>
            <a:off x="365760" y="3520440"/>
            <a:ext cx="5394960" cy="260604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3611880"/>
            <a:ext cx="5029200" cy="457200"/>
          </a:xfrm>
          <a:prstGeom prst="rect">
            <a:avLst/>
          </a:prstGeom>
          <a:noFill/>
        </p:spPr>
        <p:txBody>
          <a:bodyPr wrap="square">
            <a:spAutoFit/>
          </a:bodyPr>
          <a:lstStyle/>
          <a:p>
            <a:pPr algn="l"/>
            <a:r>
              <a:rPr sz="1500" b="1" i="0">
                <a:solidFill>
                  <a:srgbClr val="00B4D8"/>
                </a:solidFill>
                <a:latin typeface="Calibri"/>
              </a:rPr>
              <a:t>Features (43 atributos)</a:t>
            </a:r>
          </a:p>
        </p:txBody>
      </p:sp>
      <p:sp>
        <p:nvSpPr>
          <p:cNvPr id="27" name="TextBox 26"/>
          <p:cNvSpPr txBox="1"/>
          <p:nvPr/>
        </p:nvSpPr>
        <p:spPr>
          <a:xfrm>
            <a:off x="548640" y="4114800"/>
            <a:ext cx="5029200" cy="1737360"/>
          </a:xfrm>
          <a:prstGeom prst="rect">
            <a:avLst/>
          </a:prstGeom>
          <a:noFill/>
        </p:spPr>
        <p:txBody>
          <a:bodyPr wrap="square">
            <a:spAutoFit/>
          </a:bodyPr>
          <a:lstStyle/>
          <a:p>
            <a:pPr algn="l"/>
            <a:r>
              <a:rPr sz="1300">
                <a:solidFill>
                  <a:srgbClr val="CAE0F5"/>
                </a:solidFill>
                <a:latin typeface="Calibri"/>
              </a:rPr>
              <a:t>42 células do tabuleiro 6×7</a:t>
            </a:r>
          </a:p>
          <a:p>
            <a:pPr lvl="1" algn="l"/>
            <a:r>
              <a:rPr sz="1300">
                <a:solidFill>
                  <a:srgbClr val="CAE0F5"/>
                </a:solidFill>
                <a:latin typeface="Calibri"/>
              </a:rPr>
              <a:t>  · Valores: 0 (vazio), 1 (J1), 2 (J2)</a:t>
            </a:r>
          </a:p>
          <a:p>
            <a:pPr algn="l"/>
            <a:r>
              <a:rPr sz="1300">
                <a:solidFill>
                  <a:srgbClr val="CAE0F5"/>
                </a:solidFill>
                <a:latin typeface="Calibri"/>
              </a:rPr>
              <a:t>1 atributo: jogador atual (1 ou 2)</a:t>
            </a:r>
          </a:p>
        </p:txBody>
      </p:sp>
      <p:sp>
        <p:nvSpPr>
          <p:cNvPr id="28" name="Rectangle 27"/>
          <p:cNvSpPr/>
          <p:nvPr/>
        </p:nvSpPr>
        <p:spPr>
          <a:xfrm>
            <a:off x="6035040" y="3520440"/>
            <a:ext cx="5760720" cy="260604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0" y="3611880"/>
            <a:ext cx="5394960" cy="457200"/>
          </a:xfrm>
          <a:prstGeom prst="rect">
            <a:avLst/>
          </a:prstGeom>
          <a:noFill/>
        </p:spPr>
        <p:txBody>
          <a:bodyPr wrap="square">
            <a:spAutoFit/>
          </a:bodyPr>
          <a:lstStyle/>
          <a:p>
            <a:pPr algn="l"/>
            <a:r>
              <a:rPr sz="1500" b="1" i="0">
                <a:solidFill>
                  <a:srgbClr val="FFA500"/>
                </a:solidFill>
                <a:latin typeface="Calibri"/>
              </a:rPr>
              <a:t>Classes (14 ações)</a:t>
            </a:r>
          </a:p>
        </p:txBody>
      </p:sp>
      <p:sp>
        <p:nvSpPr>
          <p:cNvPr id="30" name="TextBox 29"/>
          <p:cNvSpPr txBox="1"/>
          <p:nvPr/>
        </p:nvSpPr>
        <p:spPr>
          <a:xfrm>
            <a:off x="6217920" y="4114800"/>
            <a:ext cx="5394960" cy="1737360"/>
          </a:xfrm>
          <a:prstGeom prst="rect">
            <a:avLst/>
          </a:prstGeom>
          <a:noFill/>
        </p:spPr>
        <p:txBody>
          <a:bodyPr wrap="square">
            <a:spAutoFit/>
          </a:bodyPr>
          <a:lstStyle/>
          <a:p>
            <a:pPr algn="l"/>
            <a:r>
              <a:rPr sz="1300">
                <a:solidFill>
                  <a:srgbClr val="CAE0F5"/>
                </a:solidFill>
                <a:latin typeface="Calibri"/>
              </a:rPr>
              <a:t>Drop 0–6  →  colocar peça (7 ações)</a:t>
            </a:r>
          </a:p>
          <a:p>
            <a:pPr algn="l"/>
            <a:r>
              <a:rPr sz="1300">
                <a:solidFill>
                  <a:srgbClr val="CAE0F5"/>
                </a:solidFill>
                <a:latin typeface="Calibri"/>
              </a:rPr>
              <a:t>Pop 0–6   →  retirar peça (7 ações)</a:t>
            </a:r>
          </a:p>
          <a:p>
            <a:pPr algn="l"/>
            <a:r>
              <a:rPr sz="1300">
                <a:solidFill>
                  <a:srgbClr val="CAE0F5"/>
                </a:solidFill>
                <a:latin typeface="Calibri"/>
              </a:rPr>
              <a:t>Classe = ação escolhida pelo Heurístico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Implementação ID3</a:t>
            </a:r>
          </a:p>
        </p:txBody>
      </p:sp>
      <p:sp>
        <p:nvSpPr>
          <p:cNvPr id="6" name="Rectangle 5"/>
          <p:cNvSpPr/>
          <p:nvPr/>
        </p:nvSpPr>
        <p:spPr>
          <a:xfrm>
            <a:off x="365760" y="1188720"/>
            <a:ext cx="5303520" cy="493776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80160"/>
            <a:ext cx="4937760" cy="457200"/>
          </a:xfrm>
          <a:prstGeom prst="rect">
            <a:avLst/>
          </a:prstGeom>
          <a:noFill/>
        </p:spPr>
        <p:txBody>
          <a:bodyPr wrap="square">
            <a:spAutoFit/>
          </a:bodyPr>
          <a:lstStyle/>
          <a:p>
            <a:pPr algn="l"/>
            <a:r>
              <a:rPr sz="1500" b="1" i="0">
                <a:solidFill>
                  <a:srgbClr val="00B4D8"/>
                </a:solidFill>
                <a:latin typeface="Calibri"/>
              </a:rPr>
              <a:t>Algoritmo ID3 — etapas</a:t>
            </a:r>
          </a:p>
        </p:txBody>
      </p:sp>
      <p:sp>
        <p:nvSpPr>
          <p:cNvPr id="8" name="TextBox 7"/>
          <p:cNvSpPr txBox="1"/>
          <p:nvPr/>
        </p:nvSpPr>
        <p:spPr>
          <a:xfrm>
            <a:off x="548640" y="1783080"/>
            <a:ext cx="4937760" cy="2292935"/>
          </a:xfrm>
          <a:prstGeom prst="rect">
            <a:avLst/>
          </a:prstGeom>
          <a:noFill/>
        </p:spPr>
        <p:txBody>
          <a:bodyPr wrap="square">
            <a:spAutoFit/>
          </a:bodyPr>
          <a:lstStyle/>
          <a:p>
            <a:pPr algn="l"/>
            <a:r>
              <a:rPr sz="1300" dirty="0" err="1">
                <a:solidFill>
                  <a:srgbClr val="CAE0F5"/>
                </a:solidFill>
                <a:latin typeface="Calibri"/>
              </a:rPr>
              <a:t>Calcular</a:t>
            </a:r>
            <a:r>
              <a:rPr sz="1300" dirty="0">
                <a:solidFill>
                  <a:srgbClr val="CAE0F5"/>
                </a:solidFill>
                <a:latin typeface="Calibri"/>
              </a:rPr>
              <a:t> </a:t>
            </a:r>
            <a:r>
              <a:rPr sz="1300" dirty="0" err="1">
                <a:solidFill>
                  <a:srgbClr val="CAE0F5"/>
                </a:solidFill>
                <a:latin typeface="Calibri"/>
              </a:rPr>
              <a:t>Entropia</a:t>
            </a:r>
            <a:r>
              <a:rPr sz="1300" dirty="0">
                <a:solidFill>
                  <a:srgbClr val="CAE0F5"/>
                </a:solidFill>
                <a:latin typeface="Calibri"/>
              </a:rPr>
              <a:t> H(S) para </a:t>
            </a:r>
            <a:r>
              <a:rPr sz="1300" dirty="0" err="1">
                <a:solidFill>
                  <a:srgbClr val="CAE0F5"/>
                </a:solidFill>
                <a:latin typeface="Calibri"/>
              </a:rPr>
              <a:t>cada</a:t>
            </a:r>
            <a:r>
              <a:rPr sz="1300" dirty="0">
                <a:solidFill>
                  <a:srgbClr val="CAE0F5"/>
                </a:solidFill>
                <a:latin typeface="Calibri"/>
              </a:rPr>
              <a:t> </a:t>
            </a:r>
            <a:r>
              <a:rPr sz="1300" dirty="0" err="1">
                <a:solidFill>
                  <a:srgbClr val="CAE0F5"/>
                </a:solidFill>
                <a:latin typeface="Calibri"/>
              </a:rPr>
              <a:t>nó</a:t>
            </a:r>
            <a:endParaRPr sz="1300" dirty="0">
              <a:solidFill>
                <a:srgbClr val="CAE0F5"/>
              </a:solidFill>
              <a:latin typeface="Calibri"/>
            </a:endParaRPr>
          </a:p>
          <a:p>
            <a:pPr algn="l"/>
            <a:r>
              <a:rPr sz="1300" dirty="0" err="1">
                <a:solidFill>
                  <a:srgbClr val="CAE0F5"/>
                </a:solidFill>
                <a:latin typeface="Calibri"/>
              </a:rPr>
              <a:t>Calcular</a:t>
            </a:r>
            <a:r>
              <a:rPr sz="1300" dirty="0">
                <a:solidFill>
                  <a:srgbClr val="CAE0F5"/>
                </a:solidFill>
                <a:latin typeface="Calibri"/>
              </a:rPr>
              <a:t> Information Gain para </a:t>
            </a:r>
            <a:r>
              <a:rPr sz="1300" dirty="0" err="1">
                <a:solidFill>
                  <a:srgbClr val="CAE0F5"/>
                </a:solidFill>
                <a:latin typeface="Calibri"/>
              </a:rPr>
              <a:t>cada</a:t>
            </a:r>
            <a:r>
              <a:rPr sz="1300" dirty="0">
                <a:solidFill>
                  <a:srgbClr val="CAE0F5"/>
                </a:solidFill>
                <a:latin typeface="Calibri"/>
              </a:rPr>
              <a:t> </a:t>
            </a:r>
            <a:r>
              <a:rPr sz="1300" dirty="0" err="1">
                <a:solidFill>
                  <a:srgbClr val="CAE0F5"/>
                </a:solidFill>
                <a:latin typeface="Calibri"/>
              </a:rPr>
              <a:t>atributo</a:t>
            </a:r>
            <a:endParaRPr sz="1300" dirty="0">
              <a:solidFill>
                <a:srgbClr val="CAE0F5"/>
              </a:solidFill>
              <a:latin typeface="Calibri"/>
            </a:endParaRPr>
          </a:p>
          <a:p>
            <a:pPr algn="l"/>
            <a:r>
              <a:rPr sz="1300" dirty="0" err="1">
                <a:solidFill>
                  <a:srgbClr val="CAE0F5"/>
                </a:solidFill>
                <a:latin typeface="Calibri"/>
              </a:rPr>
              <a:t>Selecionar</a:t>
            </a:r>
            <a:r>
              <a:rPr sz="1300" dirty="0">
                <a:solidFill>
                  <a:srgbClr val="CAE0F5"/>
                </a:solidFill>
                <a:latin typeface="Calibri"/>
              </a:rPr>
              <a:t> o </a:t>
            </a:r>
            <a:r>
              <a:rPr sz="1300" dirty="0" err="1">
                <a:solidFill>
                  <a:srgbClr val="CAE0F5"/>
                </a:solidFill>
                <a:latin typeface="Calibri"/>
              </a:rPr>
              <a:t>atributo</a:t>
            </a:r>
            <a:r>
              <a:rPr sz="1300" dirty="0">
                <a:solidFill>
                  <a:srgbClr val="CAE0F5"/>
                </a:solidFill>
                <a:latin typeface="Calibri"/>
              </a:rPr>
              <a:t> com </a:t>
            </a:r>
            <a:r>
              <a:rPr sz="1300" dirty="0" err="1">
                <a:solidFill>
                  <a:srgbClr val="CAE0F5"/>
                </a:solidFill>
                <a:latin typeface="Calibri"/>
              </a:rPr>
              <a:t>maior</a:t>
            </a:r>
            <a:r>
              <a:rPr sz="1300" dirty="0">
                <a:solidFill>
                  <a:srgbClr val="CAE0F5"/>
                </a:solidFill>
                <a:latin typeface="Calibri"/>
              </a:rPr>
              <a:t> IG</a:t>
            </a:r>
          </a:p>
          <a:p>
            <a:pPr algn="l"/>
            <a:r>
              <a:rPr sz="1300" dirty="0" err="1">
                <a:solidFill>
                  <a:srgbClr val="CAE0F5"/>
                </a:solidFill>
                <a:latin typeface="Calibri"/>
              </a:rPr>
              <a:t>Dividir</a:t>
            </a:r>
            <a:r>
              <a:rPr sz="1300" dirty="0">
                <a:solidFill>
                  <a:srgbClr val="CAE0F5"/>
                </a:solidFill>
                <a:latin typeface="Calibri"/>
              </a:rPr>
              <a:t> o dataset </a:t>
            </a:r>
            <a:r>
              <a:rPr sz="1300" dirty="0" err="1">
                <a:solidFill>
                  <a:srgbClr val="CAE0F5"/>
                </a:solidFill>
                <a:latin typeface="Calibri"/>
              </a:rPr>
              <a:t>recursivamente</a:t>
            </a:r>
            <a:endParaRPr sz="1300" dirty="0">
              <a:solidFill>
                <a:srgbClr val="CAE0F5"/>
              </a:solidFill>
              <a:latin typeface="Calibri"/>
            </a:endParaRPr>
          </a:p>
          <a:p>
            <a:pPr algn="l"/>
            <a:r>
              <a:rPr sz="1300" dirty="0" err="1">
                <a:solidFill>
                  <a:srgbClr val="CAE0F5"/>
                </a:solidFill>
                <a:latin typeface="Calibri"/>
              </a:rPr>
              <a:t>Critério</a:t>
            </a:r>
            <a:r>
              <a:rPr sz="1300" dirty="0">
                <a:solidFill>
                  <a:srgbClr val="CAE0F5"/>
                </a:solidFill>
                <a:latin typeface="Calibri"/>
              </a:rPr>
              <a:t> de </a:t>
            </a:r>
            <a:r>
              <a:rPr sz="1300" dirty="0" err="1">
                <a:solidFill>
                  <a:srgbClr val="CAE0F5"/>
                </a:solidFill>
                <a:latin typeface="Calibri"/>
              </a:rPr>
              <a:t>paragem</a:t>
            </a:r>
            <a:r>
              <a:rPr sz="1300" dirty="0">
                <a:solidFill>
                  <a:srgbClr val="CAE0F5"/>
                </a:solidFill>
                <a:latin typeface="Calibri"/>
              </a:rPr>
              <a:t>:</a:t>
            </a:r>
          </a:p>
          <a:p>
            <a:pPr lvl="1" algn="l"/>
            <a:r>
              <a:rPr sz="1300" dirty="0">
                <a:solidFill>
                  <a:srgbClr val="CAE0F5"/>
                </a:solidFill>
                <a:latin typeface="Calibri"/>
              </a:rPr>
              <a:t>  · Todos </a:t>
            </a:r>
            <a:r>
              <a:rPr sz="1300" dirty="0" err="1">
                <a:solidFill>
                  <a:srgbClr val="CAE0F5"/>
                </a:solidFill>
                <a:latin typeface="Calibri"/>
              </a:rPr>
              <a:t>os</a:t>
            </a:r>
            <a:r>
              <a:rPr sz="1300" dirty="0">
                <a:solidFill>
                  <a:srgbClr val="CAE0F5"/>
                </a:solidFill>
                <a:latin typeface="Calibri"/>
              </a:rPr>
              <a:t> </a:t>
            </a:r>
            <a:r>
              <a:rPr sz="1300" dirty="0" err="1">
                <a:solidFill>
                  <a:srgbClr val="CAE0F5"/>
                </a:solidFill>
                <a:latin typeface="Calibri"/>
              </a:rPr>
              <a:t>exemplos</a:t>
            </a:r>
            <a:r>
              <a:rPr sz="1300" dirty="0">
                <a:solidFill>
                  <a:srgbClr val="CAE0F5"/>
                </a:solidFill>
                <a:latin typeface="Calibri"/>
              </a:rPr>
              <a:t> da </a:t>
            </a:r>
            <a:r>
              <a:rPr sz="1300" dirty="0" err="1">
                <a:solidFill>
                  <a:srgbClr val="CAE0F5"/>
                </a:solidFill>
                <a:latin typeface="Calibri"/>
              </a:rPr>
              <a:t>mesma</a:t>
            </a:r>
            <a:r>
              <a:rPr sz="1300" dirty="0">
                <a:solidFill>
                  <a:srgbClr val="CAE0F5"/>
                </a:solidFill>
                <a:latin typeface="Calibri"/>
              </a:rPr>
              <a:t> </a:t>
            </a:r>
            <a:r>
              <a:rPr sz="1300" dirty="0" err="1">
                <a:solidFill>
                  <a:srgbClr val="CAE0F5"/>
                </a:solidFill>
                <a:latin typeface="Calibri"/>
              </a:rPr>
              <a:t>classe</a:t>
            </a:r>
            <a:endParaRPr sz="1300" dirty="0">
              <a:solidFill>
                <a:srgbClr val="CAE0F5"/>
              </a:solidFill>
              <a:latin typeface="Calibri"/>
            </a:endParaRPr>
          </a:p>
          <a:p>
            <a:pPr lvl="1" algn="l"/>
            <a:r>
              <a:rPr sz="1300" dirty="0">
                <a:solidFill>
                  <a:srgbClr val="CAE0F5"/>
                </a:solidFill>
                <a:latin typeface="Calibri"/>
              </a:rPr>
              <a:t>  · Sem </a:t>
            </a:r>
            <a:r>
              <a:rPr sz="1300" dirty="0" err="1">
                <a:solidFill>
                  <a:srgbClr val="CAE0F5"/>
                </a:solidFill>
                <a:latin typeface="Calibri"/>
              </a:rPr>
              <a:t>mais</a:t>
            </a:r>
            <a:r>
              <a:rPr sz="1300" dirty="0">
                <a:solidFill>
                  <a:srgbClr val="CAE0F5"/>
                </a:solidFill>
                <a:latin typeface="Calibri"/>
              </a:rPr>
              <a:t> </a:t>
            </a:r>
            <a:r>
              <a:rPr sz="1300" dirty="0" err="1">
                <a:solidFill>
                  <a:srgbClr val="CAE0F5"/>
                </a:solidFill>
                <a:latin typeface="Calibri"/>
              </a:rPr>
              <a:t>atributos</a:t>
            </a:r>
            <a:r>
              <a:rPr sz="1300" dirty="0">
                <a:solidFill>
                  <a:srgbClr val="CAE0F5"/>
                </a:solidFill>
                <a:latin typeface="Calibri"/>
              </a:rPr>
              <a:t> para </a:t>
            </a:r>
            <a:r>
              <a:rPr sz="1300" dirty="0" err="1">
                <a:solidFill>
                  <a:srgbClr val="CAE0F5"/>
                </a:solidFill>
                <a:latin typeface="Calibri"/>
              </a:rPr>
              <a:t>dividir</a:t>
            </a:r>
            <a:endParaRPr sz="1300" dirty="0">
              <a:solidFill>
                <a:srgbClr val="CAE0F5"/>
              </a:solidFill>
              <a:latin typeface="Calibri"/>
            </a:endParaRPr>
          </a:p>
          <a:p>
            <a:pPr lvl="1" algn="l"/>
            <a:r>
              <a:rPr sz="1300" dirty="0">
                <a:solidFill>
                  <a:srgbClr val="CAE0F5"/>
                </a:solidFill>
                <a:latin typeface="Calibri"/>
              </a:rPr>
              <a:t>  · </a:t>
            </a:r>
            <a:r>
              <a:rPr sz="1300" dirty="0" err="1">
                <a:solidFill>
                  <a:srgbClr val="CAE0F5"/>
                </a:solidFill>
                <a:latin typeface="Calibri"/>
              </a:rPr>
              <a:t>Nó</a:t>
            </a:r>
            <a:r>
              <a:rPr sz="1300" dirty="0">
                <a:solidFill>
                  <a:srgbClr val="CAE0F5"/>
                </a:solidFill>
                <a:latin typeface="Calibri"/>
              </a:rPr>
              <a:t> </a:t>
            </a:r>
            <a:r>
              <a:rPr sz="1300" dirty="0" err="1">
                <a:solidFill>
                  <a:srgbClr val="CAE0F5"/>
                </a:solidFill>
                <a:latin typeface="Calibri"/>
              </a:rPr>
              <a:t>folha</a:t>
            </a:r>
            <a:r>
              <a:rPr sz="1300" dirty="0">
                <a:solidFill>
                  <a:srgbClr val="CAE0F5"/>
                </a:solidFill>
                <a:latin typeface="Calibri"/>
              </a:rPr>
              <a:t> → </a:t>
            </a:r>
            <a:r>
              <a:rPr sz="1300" dirty="0" err="1">
                <a:solidFill>
                  <a:srgbClr val="CAE0F5"/>
                </a:solidFill>
                <a:latin typeface="Calibri"/>
              </a:rPr>
              <a:t>classe</a:t>
            </a:r>
            <a:r>
              <a:rPr sz="1300" dirty="0">
                <a:solidFill>
                  <a:srgbClr val="CAE0F5"/>
                </a:solidFill>
                <a:latin typeface="Calibri"/>
              </a:rPr>
              <a:t> </a:t>
            </a:r>
            <a:r>
              <a:rPr sz="1300" dirty="0" err="1">
                <a:solidFill>
                  <a:srgbClr val="CAE0F5"/>
                </a:solidFill>
                <a:latin typeface="Calibri"/>
              </a:rPr>
              <a:t>maioritária</a:t>
            </a:r>
            <a:endParaRPr sz="1300" dirty="0">
              <a:solidFill>
                <a:srgbClr val="CAE0F5"/>
              </a:solidFill>
              <a:latin typeface="Calibri"/>
            </a:endParaRPr>
          </a:p>
          <a:p>
            <a:pPr algn="l"/>
            <a:endParaRPr sz="1300" dirty="0">
              <a:solidFill>
                <a:srgbClr val="CAE0F5"/>
              </a:solidFill>
              <a:latin typeface="Calibri"/>
            </a:endParaRPr>
          </a:p>
          <a:p>
            <a:pPr algn="l"/>
            <a:r>
              <a:rPr sz="1300" dirty="0">
                <a:solidFill>
                  <a:srgbClr val="CAE0F5"/>
                </a:solidFill>
                <a:latin typeface="Calibri"/>
              </a:rPr>
              <a:t>Thresholds </a:t>
            </a:r>
            <a:r>
              <a:rPr sz="1300" dirty="0" err="1">
                <a:solidFill>
                  <a:srgbClr val="CAE0F5"/>
                </a:solidFill>
                <a:latin typeface="Calibri"/>
              </a:rPr>
              <a:t>numéricos</a:t>
            </a:r>
            <a:r>
              <a:rPr sz="1300" dirty="0">
                <a:solidFill>
                  <a:srgbClr val="CAE0F5"/>
                </a:solidFill>
                <a:latin typeface="Calibri"/>
              </a:rPr>
              <a:t> para </a:t>
            </a:r>
            <a:r>
              <a:rPr sz="1300" dirty="0" err="1">
                <a:solidFill>
                  <a:srgbClr val="CAE0F5"/>
                </a:solidFill>
                <a:latin typeface="Calibri"/>
              </a:rPr>
              <a:t>atributos</a:t>
            </a:r>
            <a:r>
              <a:rPr sz="1300" dirty="0">
                <a:solidFill>
                  <a:srgbClr val="CAE0F5"/>
                </a:solidFill>
                <a:latin typeface="Calibri"/>
              </a:rPr>
              <a:t> </a:t>
            </a:r>
            <a:r>
              <a:rPr sz="1300" dirty="0" err="1">
                <a:solidFill>
                  <a:srgbClr val="CAE0F5"/>
                </a:solidFill>
                <a:latin typeface="Calibri"/>
              </a:rPr>
              <a:t>contínuos</a:t>
            </a:r>
            <a:endParaRPr sz="1300" dirty="0">
              <a:solidFill>
                <a:srgbClr val="CAE0F5"/>
              </a:solidFill>
              <a:latin typeface="Calibri"/>
            </a:endParaRPr>
          </a:p>
          <a:p>
            <a:pPr lvl="1" algn="l"/>
            <a:r>
              <a:rPr sz="1300" dirty="0">
                <a:solidFill>
                  <a:srgbClr val="CAE0F5"/>
                </a:solidFill>
                <a:latin typeface="Calibri"/>
              </a:rPr>
              <a:t>  (no </a:t>
            </a:r>
            <a:r>
              <a:rPr sz="1300" dirty="0" err="1">
                <a:solidFill>
                  <a:srgbClr val="CAE0F5"/>
                </a:solidFill>
                <a:latin typeface="Calibri"/>
              </a:rPr>
              <a:t>caso</a:t>
            </a:r>
            <a:r>
              <a:rPr sz="1300" dirty="0">
                <a:solidFill>
                  <a:srgbClr val="CAE0F5"/>
                </a:solidFill>
                <a:latin typeface="Calibri"/>
              </a:rPr>
              <a:t> Iris)</a:t>
            </a:r>
          </a:p>
        </p:txBody>
      </p:sp>
      <p:sp>
        <p:nvSpPr>
          <p:cNvPr id="9" name="Rectangle 8"/>
          <p:cNvSpPr/>
          <p:nvPr/>
        </p:nvSpPr>
        <p:spPr>
          <a:xfrm>
            <a:off x="5852160" y="1188720"/>
            <a:ext cx="5943600" cy="493776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35040" y="1280160"/>
            <a:ext cx="5577840" cy="457200"/>
          </a:xfrm>
          <a:prstGeom prst="rect">
            <a:avLst/>
          </a:prstGeom>
          <a:noFill/>
        </p:spPr>
        <p:txBody>
          <a:bodyPr wrap="square">
            <a:spAutoFit/>
          </a:bodyPr>
          <a:lstStyle/>
          <a:p>
            <a:pPr algn="l"/>
            <a:r>
              <a:rPr sz="1500" b="1" i="0">
                <a:solidFill>
                  <a:srgbClr val="FFA500"/>
                </a:solidFill>
                <a:latin typeface="Calibri"/>
              </a:rPr>
              <a:t>Estrutura da Árvore (PopOut)</a:t>
            </a:r>
          </a:p>
        </p:txBody>
      </p:sp>
      <p:sp>
        <p:nvSpPr>
          <p:cNvPr id="11" name="Rectangle 10"/>
          <p:cNvSpPr/>
          <p:nvPr/>
        </p:nvSpPr>
        <p:spPr>
          <a:xfrm>
            <a:off x="7772400" y="1874519"/>
            <a:ext cx="192024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1892807"/>
            <a:ext cx="1920240" cy="457200"/>
          </a:xfrm>
          <a:prstGeom prst="rect">
            <a:avLst/>
          </a:prstGeom>
          <a:noFill/>
        </p:spPr>
        <p:txBody>
          <a:bodyPr wrap="square">
            <a:spAutoFit/>
          </a:bodyPr>
          <a:lstStyle/>
          <a:p>
            <a:pPr algn="ctr"/>
            <a:r>
              <a:rPr sz="1100" b="1" i="0">
                <a:solidFill>
                  <a:srgbClr val="0F172A"/>
                </a:solidFill>
                <a:latin typeface="Calibri"/>
              </a:rPr>
              <a:t>célula[21]</a:t>
            </a:r>
          </a:p>
        </p:txBody>
      </p:sp>
      <p:sp>
        <p:nvSpPr>
          <p:cNvPr id="13" name="Rectangle 12"/>
          <p:cNvSpPr/>
          <p:nvPr/>
        </p:nvSpPr>
        <p:spPr>
          <a:xfrm>
            <a:off x="6400800" y="2880360"/>
            <a:ext cx="1737360" cy="45720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2898648"/>
            <a:ext cx="1737360" cy="420624"/>
          </a:xfrm>
          <a:prstGeom prst="rect">
            <a:avLst/>
          </a:prstGeom>
          <a:noFill/>
        </p:spPr>
        <p:txBody>
          <a:bodyPr wrap="square">
            <a:spAutoFit/>
          </a:bodyPr>
          <a:lstStyle/>
          <a:p>
            <a:pPr algn="ctr"/>
            <a:r>
              <a:rPr sz="1050" b="1" i="0">
                <a:solidFill>
                  <a:srgbClr val="0F172A"/>
                </a:solidFill>
                <a:latin typeface="Calibri"/>
              </a:rPr>
              <a:t>célula[14]</a:t>
            </a:r>
          </a:p>
        </p:txBody>
      </p:sp>
      <p:sp>
        <p:nvSpPr>
          <p:cNvPr id="15" name="Rectangle 14"/>
          <p:cNvSpPr/>
          <p:nvPr/>
        </p:nvSpPr>
        <p:spPr>
          <a:xfrm>
            <a:off x="8732520" y="2377440"/>
            <a:ext cx="36576" cy="228600"/>
          </a:xfrm>
          <a:prstGeom prst="rect">
            <a:avLst/>
          </a:prstGeom>
          <a:solidFill>
            <a:srgbClr val="6080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269480" y="2606040"/>
            <a:ext cx="36576" cy="274320"/>
          </a:xfrm>
          <a:prstGeom prst="rect">
            <a:avLst/>
          </a:prstGeom>
          <a:solidFill>
            <a:srgbClr val="6080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61120" y="2880360"/>
            <a:ext cx="1737360" cy="4572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0" y="2898648"/>
            <a:ext cx="1737360" cy="420624"/>
          </a:xfrm>
          <a:prstGeom prst="rect">
            <a:avLst/>
          </a:prstGeom>
          <a:noFill/>
        </p:spPr>
        <p:txBody>
          <a:bodyPr wrap="square">
            <a:spAutoFit/>
          </a:bodyPr>
          <a:lstStyle/>
          <a:p>
            <a:pPr algn="ctr"/>
            <a:r>
              <a:rPr sz="1050" b="1" i="0">
                <a:solidFill>
                  <a:srgbClr val="0F172A"/>
                </a:solidFill>
                <a:latin typeface="Calibri"/>
              </a:rPr>
              <a:t>célula[28]</a:t>
            </a:r>
          </a:p>
        </p:txBody>
      </p:sp>
      <p:sp>
        <p:nvSpPr>
          <p:cNvPr id="19" name="Rectangle 18"/>
          <p:cNvSpPr/>
          <p:nvPr/>
        </p:nvSpPr>
        <p:spPr>
          <a:xfrm>
            <a:off x="8732520" y="2377440"/>
            <a:ext cx="36576" cy="228600"/>
          </a:xfrm>
          <a:prstGeom prst="rect">
            <a:avLst/>
          </a:prstGeom>
          <a:solidFill>
            <a:srgbClr val="6080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058400" y="2606040"/>
            <a:ext cx="36576" cy="274320"/>
          </a:xfrm>
          <a:prstGeom prst="rect">
            <a:avLst/>
          </a:prstGeom>
          <a:solidFill>
            <a:srgbClr val="6080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0" y="3840480"/>
            <a:ext cx="1371600" cy="43891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0" y="3858768"/>
            <a:ext cx="1371600" cy="402336"/>
          </a:xfrm>
          <a:prstGeom prst="rect">
            <a:avLst/>
          </a:prstGeom>
          <a:noFill/>
        </p:spPr>
        <p:txBody>
          <a:bodyPr wrap="square">
            <a:spAutoFit/>
          </a:bodyPr>
          <a:lstStyle/>
          <a:p>
            <a:pPr algn="ctr"/>
            <a:r>
              <a:rPr sz="1100" b="1" i="0">
                <a:solidFill>
                  <a:srgbClr val="0F172A"/>
                </a:solidFill>
                <a:latin typeface="Calibri"/>
              </a:rPr>
              <a:t>drop 3</a:t>
            </a:r>
          </a:p>
        </p:txBody>
      </p:sp>
      <p:sp>
        <p:nvSpPr>
          <p:cNvPr id="23" name="Rectangle 22"/>
          <p:cNvSpPr/>
          <p:nvPr/>
        </p:nvSpPr>
        <p:spPr>
          <a:xfrm>
            <a:off x="7543800" y="3840480"/>
            <a:ext cx="1371600" cy="4389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43800" y="3858768"/>
            <a:ext cx="1371600" cy="402336"/>
          </a:xfrm>
          <a:prstGeom prst="rect">
            <a:avLst/>
          </a:prstGeom>
          <a:noFill/>
        </p:spPr>
        <p:txBody>
          <a:bodyPr wrap="square">
            <a:spAutoFit/>
          </a:bodyPr>
          <a:lstStyle/>
          <a:p>
            <a:pPr algn="ctr"/>
            <a:r>
              <a:rPr sz="1100" b="1" i="0">
                <a:solidFill>
                  <a:srgbClr val="0F172A"/>
                </a:solidFill>
                <a:latin typeface="Calibri"/>
              </a:rPr>
              <a:t>pop 1</a:t>
            </a:r>
          </a:p>
        </p:txBody>
      </p:sp>
      <p:sp>
        <p:nvSpPr>
          <p:cNvPr id="25" name="Rectangle 24"/>
          <p:cNvSpPr/>
          <p:nvPr/>
        </p:nvSpPr>
        <p:spPr>
          <a:xfrm>
            <a:off x="9144000" y="3840480"/>
            <a:ext cx="1371600" cy="438912"/>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0" y="3858768"/>
            <a:ext cx="1371600" cy="402336"/>
          </a:xfrm>
          <a:prstGeom prst="rect">
            <a:avLst/>
          </a:prstGeom>
          <a:noFill/>
        </p:spPr>
        <p:txBody>
          <a:bodyPr wrap="square">
            <a:spAutoFit/>
          </a:bodyPr>
          <a:lstStyle/>
          <a:p>
            <a:pPr algn="ctr"/>
            <a:r>
              <a:rPr sz="1100" b="1" i="0">
                <a:solidFill>
                  <a:srgbClr val="0F172A"/>
                </a:solidFill>
                <a:latin typeface="Calibri"/>
              </a:rPr>
              <a:t>drop 6</a:t>
            </a:r>
          </a:p>
        </p:txBody>
      </p:sp>
      <p:sp>
        <p:nvSpPr>
          <p:cNvPr id="27" name="Rectangle 26"/>
          <p:cNvSpPr/>
          <p:nvPr/>
        </p:nvSpPr>
        <p:spPr>
          <a:xfrm>
            <a:off x="10744200" y="3840480"/>
            <a:ext cx="1371600" cy="438912"/>
          </a:xfrm>
          <a:prstGeom prst="rect">
            <a:avLst/>
          </a:prstGeom>
          <a:solidFill>
            <a:srgbClr val="A05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44200" y="3858768"/>
            <a:ext cx="1371600" cy="402336"/>
          </a:xfrm>
          <a:prstGeom prst="rect">
            <a:avLst/>
          </a:prstGeom>
          <a:noFill/>
        </p:spPr>
        <p:txBody>
          <a:bodyPr wrap="square">
            <a:spAutoFit/>
          </a:bodyPr>
          <a:lstStyle/>
          <a:p>
            <a:pPr algn="ctr"/>
            <a:r>
              <a:rPr sz="1100" b="1" i="0">
                <a:solidFill>
                  <a:srgbClr val="0F172A"/>
                </a:solidFill>
                <a:latin typeface="Calibri"/>
              </a:rPr>
              <a:t>drop 0</a:t>
            </a:r>
          </a:p>
        </p:txBody>
      </p:sp>
      <p:sp>
        <p:nvSpPr>
          <p:cNvPr id="29" name="TextBox 28"/>
          <p:cNvSpPr txBox="1"/>
          <p:nvPr/>
        </p:nvSpPr>
        <p:spPr>
          <a:xfrm>
            <a:off x="5852160" y="4572000"/>
            <a:ext cx="5943600" cy="411480"/>
          </a:xfrm>
          <a:prstGeom prst="rect">
            <a:avLst/>
          </a:prstGeom>
          <a:noFill/>
        </p:spPr>
        <p:txBody>
          <a:bodyPr wrap="square">
            <a:spAutoFit/>
          </a:bodyPr>
          <a:lstStyle/>
          <a:p>
            <a:pPr algn="ctr"/>
            <a:r>
              <a:rPr sz="1200" b="0" i="0">
                <a:solidFill>
                  <a:srgbClr val="8BADC8"/>
                </a:solidFill>
                <a:latin typeface="Calibri"/>
              </a:rPr>
              <a:t>Profundidade: 6   ·   305 nós   ·   14 classes</a:t>
            </a:r>
          </a:p>
        </p:txBody>
      </p:sp>
      <p:sp>
        <p:nvSpPr>
          <p:cNvPr id="30" name="Rectangle 29"/>
          <p:cNvSpPr/>
          <p:nvPr/>
        </p:nvSpPr>
        <p:spPr>
          <a:xfrm>
            <a:off x="5852160" y="5074920"/>
            <a:ext cx="5943600"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Resultados do ID3</a:t>
            </a:r>
          </a:p>
        </p:txBody>
      </p:sp>
      <p:sp>
        <p:nvSpPr>
          <p:cNvPr id="6" name="Rectangle 5"/>
          <p:cNvSpPr/>
          <p:nvPr/>
        </p:nvSpPr>
        <p:spPr>
          <a:xfrm>
            <a:off x="365760" y="1188720"/>
            <a:ext cx="5486400" cy="502920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188720"/>
            <a:ext cx="54864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98448"/>
            <a:ext cx="5120640" cy="502920"/>
          </a:xfrm>
          <a:prstGeom prst="rect">
            <a:avLst/>
          </a:prstGeom>
          <a:noFill/>
        </p:spPr>
        <p:txBody>
          <a:bodyPr wrap="square">
            <a:spAutoFit/>
          </a:bodyPr>
          <a:lstStyle/>
          <a:p>
            <a:pPr algn="l"/>
            <a:r>
              <a:rPr sz="1700" b="1" i="0">
                <a:solidFill>
                  <a:srgbClr val="00B4D8"/>
                </a:solidFill>
                <a:latin typeface="Calibri"/>
              </a:rPr>
              <a:t>🎮  Dataset PopOut</a:t>
            </a:r>
          </a:p>
        </p:txBody>
      </p:sp>
      <p:sp>
        <p:nvSpPr>
          <p:cNvPr id="9" name="Rectangle 8"/>
          <p:cNvSpPr/>
          <p:nvPr/>
        </p:nvSpPr>
        <p:spPr>
          <a:xfrm>
            <a:off x="502920" y="1920240"/>
            <a:ext cx="5212080" cy="86868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965960"/>
            <a:ext cx="2926080" cy="411480"/>
          </a:xfrm>
          <a:prstGeom prst="rect">
            <a:avLst/>
          </a:prstGeom>
          <a:noFill/>
        </p:spPr>
        <p:txBody>
          <a:bodyPr wrap="square">
            <a:spAutoFit/>
          </a:bodyPr>
          <a:lstStyle/>
          <a:p>
            <a:pPr algn="l"/>
            <a:r>
              <a:rPr sz="1200" b="0" i="0">
                <a:solidFill>
                  <a:srgbClr val="8BADC8"/>
                </a:solidFill>
                <a:latin typeface="Calibri"/>
              </a:rPr>
              <a:t>Baseline (maioria)</a:t>
            </a:r>
          </a:p>
        </p:txBody>
      </p:sp>
      <p:sp>
        <p:nvSpPr>
          <p:cNvPr id="11" name="TextBox 10"/>
          <p:cNvSpPr txBox="1"/>
          <p:nvPr/>
        </p:nvSpPr>
        <p:spPr>
          <a:xfrm>
            <a:off x="3566160" y="1938528"/>
            <a:ext cx="2011680" cy="594360"/>
          </a:xfrm>
          <a:prstGeom prst="rect">
            <a:avLst/>
          </a:prstGeom>
          <a:noFill/>
        </p:spPr>
        <p:txBody>
          <a:bodyPr wrap="square">
            <a:spAutoFit/>
          </a:bodyPr>
          <a:lstStyle/>
          <a:p>
            <a:pPr algn="r"/>
            <a:r>
              <a:rPr sz="2600" b="1" i="0">
                <a:solidFill>
                  <a:srgbClr val="8BADC8"/>
                </a:solidFill>
                <a:latin typeface="Calibri"/>
              </a:rPr>
              <a:t>14.66%</a:t>
            </a:r>
          </a:p>
        </p:txBody>
      </p:sp>
      <p:sp>
        <p:nvSpPr>
          <p:cNvPr id="12" name="Rectangle 11"/>
          <p:cNvSpPr/>
          <p:nvPr/>
        </p:nvSpPr>
        <p:spPr>
          <a:xfrm>
            <a:off x="502920" y="2971800"/>
            <a:ext cx="5212080" cy="86868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3017520"/>
            <a:ext cx="2926080" cy="411480"/>
          </a:xfrm>
          <a:prstGeom prst="rect">
            <a:avLst/>
          </a:prstGeom>
          <a:noFill/>
        </p:spPr>
        <p:txBody>
          <a:bodyPr wrap="square">
            <a:spAutoFit/>
          </a:bodyPr>
          <a:lstStyle/>
          <a:p>
            <a:pPr algn="l"/>
            <a:r>
              <a:rPr sz="1200" b="0" i="0">
                <a:solidFill>
                  <a:srgbClr val="8BADC8"/>
                </a:solidFill>
                <a:latin typeface="Calibri"/>
              </a:rPr>
              <a:t>Accuracy bruta</a:t>
            </a:r>
          </a:p>
        </p:txBody>
      </p:sp>
      <p:sp>
        <p:nvSpPr>
          <p:cNvPr id="14" name="TextBox 13"/>
          <p:cNvSpPr txBox="1"/>
          <p:nvPr/>
        </p:nvSpPr>
        <p:spPr>
          <a:xfrm>
            <a:off x="3566160" y="2990088"/>
            <a:ext cx="2011680" cy="594360"/>
          </a:xfrm>
          <a:prstGeom prst="rect">
            <a:avLst/>
          </a:prstGeom>
          <a:noFill/>
        </p:spPr>
        <p:txBody>
          <a:bodyPr wrap="square">
            <a:spAutoFit/>
          </a:bodyPr>
          <a:lstStyle/>
          <a:p>
            <a:pPr algn="r"/>
            <a:r>
              <a:rPr sz="2600" b="1" i="0">
                <a:solidFill>
                  <a:srgbClr val="FFA500"/>
                </a:solidFill>
                <a:latin typeface="Calibri"/>
              </a:rPr>
              <a:t>31.71%</a:t>
            </a:r>
          </a:p>
        </p:txBody>
      </p:sp>
      <p:sp>
        <p:nvSpPr>
          <p:cNvPr id="15" name="Rectangle 14"/>
          <p:cNvSpPr/>
          <p:nvPr/>
        </p:nvSpPr>
        <p:spPr>
          <a:xfrm>
            <a:off x="502920" y="4023360"/>
            <a:ext cx="5212080" cy="86868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4069080"/>
            <a:ext cx="2926080" cy="411480"/>
          </a:xfrm>
          <a:prstGeom prst="rect">
            <a:avLst/>
          </a:prstGeom>
          <a:noFill/>
        </p:spPr>
        <p:txBody>
          <a:bodyPr wrap="square">
            <a:spAutoFit/>
          </a:bodyPr>
          <a:lstStyle/>
          <a:p>
            <a:pPr algn="l"/>
            <a:r>
              <a:rPr sz="1200" b="0" i="0">
                <a:solidFill>
                  <a:srgbClr val="8BADC8"/>
                </a:solidFill>
                <a:latin typeface="Calibri"/>
              </a:rPr>
              <a:t>Accuracy legal-aware</a:t>
            </a:r>
          </a:p>
        </p:txBody>
      </p:sp>
      <p:sp>
        <p:nvSpPr>
          <p:cNvPr id="17" name="TextBox 16"/>
          <p:cNvSpPr txBox="1"/>
          <p:nvPr/>
        </p:nvSpPr>
        <p:spPr>
          <a:xfrm>
            <a:off x="3566160" y="4041648"/>
            <a:ext cx="2011680" cy="594360"/>
          </a:xfrm>
          <a:prstGeom prst="rect">
            <a:avLst/>
          </a:prstGeom>
          <a:noFill/>
        </p:spPr>
        <p:txBody>
          <a:bodyPr wrap="square">
            <a:spAutoFit/>
          </a:bodyPr>
          <a:lstStyle/>
          <a:p>
            <a:pPr algn="r"/>
            <a:r>
              <a:rPr sz="2600" b="1" i="0">
                <a:solidFill>
                  <a:srgbClr val="06D68A"/>
                </a:solidFill>
                <a:latin typeface="Calibri"/>
              </a:rPr>
              <a:t>31.95%</a:t>
            </a:r>
          </a:p>
        </p:txBody>
      </p:sp>
      <p:sp>
        <p:nvSpPr>
          <p:cNvPr id="18" name="Rectangle 17"/>
          <p:cNvSpPr/>
          <p:nvPr/>
        </p:nvSpPr>
        <p:spPr>
          <a:xfrm>
            <a:off x="502920" y="5074920"/>
            <a:ext cx="5212080" cy="77724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5120640"/>
            <a:ext cx="4937760" cy="411480"/>
          </a:xfrm>
          <a:prstGeom prst="rect">
            <a:avLst/>
          </a:prstGeom>
          <a:noFill/>
        </p:spPr>
        <p:txBody>
          <a:bodyPr wrap="square">
            <a:spAutoFit/>
          </a:bodyPr>
          <a:lstStyle/>
          <a:p>
            <a:pPr algn="ctr"/>
            <a:r>
              <a:rPr sz="1200" b="0" i="0">
                <a:solidFill>
                  <a:srgbClr val="CAE0F5"/>
                </a:solidFill>
                <a:latin typeface="Calibri"/>
              </a:rPr>
              <a:t>Profundidade: 6   ·   Nós: 305   ·   14 classes</a:t>
            </a:r>
          </a:p>
        </p:txBody>
      </p:sp>
      <p:sp>
        <p:nvSpPr>
          <p:cNvPr id="20" name="TextBox 19"/>
          <p:cNvSpPr txBox="1"/>
          <p:nvPr/>
        </p:nvSpPr>
        <p:spPr>
          <a:xfrm>
            <a:off x="658368" y="5532120"/>
            <a:ext cx="4937760" cy="365760"/>
          </a:xfrm>
          <a:prstGeom prst="rect">
            <a:avLst/>
          </a:prstGeom>
          <a:noFill/>
        </p:spPr>
        <p:txBody>
          <a:bodyPr wrap="square">
            <a:spAutoFit/>
          </a:bodyPr>
          <a:lstStyle/>
          <a:p>
            <a:pPr algn="ctr"/>
            <a:r>
              <a:rPr sz="1100" b="0" i="1">
                <a:solidFill>
                  <a:srgbClr val="8BADC8"/>
                </a:solidFill>
                <a:latin typeface="Calibri"/>
              </a:rPr>
              <a:t>12 320 exemplos de treino</a:t>
            </a:r>
          </a:p>
        </p:txBody>
      </p:sp>
      <p:sp>
        <p:nvSpPr>
          <p:cNvPr id="21" name="Rectangle 20"/>
          <p:cNvSpPr/>
          <p:nvPr/>
        </p:nvSpPr>
        <p:spPr>
          <a:xfrm>
            <a:off x="6126480" y="1188720"/>
            <a:ext cx="5669280" cy="5029200"/>
          </a:xfrm>
          <a:prstGeom prst="rect">
            <a:avLst/>
          </a:prstGeom>
          <a:solidFill>
            <a:srgbClr val="14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80" y="1188720"/>
            <a:ext cx="5669280" cy="64008"/>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1298448"/>
            <a:ext cx="5303520" cy="502920"/>
          </a:xfrm>
          <a:prstGeom prst="rect">
            <a:avLst/>
          </a:prstGeom>
          <a:noFill/>
        </p:spPr>
        <p:txBody>
          <a:bodyPr wrap="square">
            <a:spAutoFit/>
          </a:bodyPr>
          <a:lstStyle/>
          <a:p>
            <a:pPr algn="l"/>
            <a:r>
              <a:rPr sz="1700" b="1" i="0">
                <a:solidFill>
                  <a:srgbClr val="06D68A"/>
                </a:solidFill>
                <a:latin typeface="Calibri"/>
              </a:rPr>
              <a:t>🌸  Dataset Iris (validação)</a:t>
            </a:r>
          </a:p>
        </p:txBody>
      </p:sp>
      <p:sp>
        <p:nvSpPr>
          <p:cNvPr id="24" name="Rectangle 23"/>
          <p:cNvSpPr/>
          <p:nvPr/>
        </p:nvSpPr>
        <p:spPr>
          <a:xfrm>
            <a:off x="6263640" y="1920240"/>
            <a:ext cx="5394960" cy="86868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1965960"/>
            <a:ext cx="3200400" cy="411480"/>
          </a:xfrm>
          <a:prstGeom prst="rect">
            <a:avLst/>
          </a:prstGeom>
          <a:noFill/>
        </p:spPr>
        <p:txBody>
          <a:bodyPr wrap="square">
            <a:spAutoFit/>
          </a:bodyPr>
          <a:lstStyle/>
          <a:p>
            <a:pPr algn="l"/>
            <a:r>
              <a:rPr sz="1200" b="0" i="0">
                <a:solidFill>
                  <a:srgbClr val="8BADC8"/>
                </a:solidFill>
                <a:latin typeface="Calibri"/>
              </a:rPr>
              <a:t>Test Accuracy</a:t>
            </a:r>
          </a:p>
        </p:txBody>
      </p:sp>
      <p:sp>
        <p:nvSpPr>
          <p:cNvPr id="26" name="TextBox 25"/>
          <p:cNvSpPr txBox="1"/>
          <p:nvPr/>
        </p:nvSpPr>
        <p:spPr>
          <a:xfrm>
            <a:off x="8686800" y="1920240"/>
            <a:ext cx="2743200" cy="777240"/>
          </a:xfrm>
          <a:prstGeom prst="rect">
            <a:avLst/>
          </a:prstGeom>
          <a:noFill/>
        </p:spPr>
        <p:txBody>
          <a:bodyPr wrap="square">
            <a:spAutoFit/>
          </a:bodyPr>
          <a:lstStyle/>
          <a:p>
            <a:pPr algn="r"/>
            <a:r>
              <a:rPr sz="3400" b="1" i="0">
                <a:solidFill>
                  <a:srgbClr val="06D68A"/>
                </a:solidFill>
                <a:latin typeface="Calibri"/>
              </a:rPr>
              <a:t>93.33%</a:t>
            </a:r>
          </a:p>
        </p:txBody>
      </p:sp>
      <p:sp>
        <p:nvSpPr>
          <p:cNvPr id="27" name="Rectangle 26"/>
          <p:cNvSpPr/>
          <p:nvPr/>
        </p:nvSpPr>
        <p:spPr>
          <a:xfrm>
            <a:off x="6263640" y="2926080"/>
            <a:ext cx="5394960" cy="86868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2971800"/>
            <a:ext cx="3200400" cy="411480"/>
          </a:xfrm>
          <a:prstGeom prst="rect">
            <a:avLst/>
          </a:prstGeom>
          <a:noFill/>
        </p:spPr>
        <p:txBody>
          <a:bodyPr wrap="square">
            <a:spAutoFit/>
          </a:bodyPr>
          <a:lstStyle/>
          <a:p>
            <a:pPr algn="l"/>
            <a:r>
              <a:rPr sz="1200" b="0" i="0">
                <a:solidFill>
                  <a:srgbClr val="8BADC8"/>
                </a:solidFill>
                <a:latin typeface="Calibri"/>
              </a:rPr>
              <a:t>Profundidade</a:t>
            </a:r>
          </a:p>
        </p:txBody>
      </p:sp>
      <p:sp>
        <p:nvSpPr>
          <p:cNvPr id="29" name="TextBox 28"/>
          <p:cNvSpPr txBox="1"/>
          <p:nvPr/>
        </p:nvSpPr>
        <p:spPr>
          <a:xfrm>
            <a:off x="9418320" y="2926080"/>
            <a:ext cx="1097280" cy="777240"/>
          </a:xfrm>
          <a:prstGeom prst="rect">
            <a:avLst/>
          </a:prstGeom>
          <a:noFill/>
        </p:spPr>
        <p:txBody>
          <a:bodyPr wrap="square">
            <a:spAutoFit/>
          </a:bodyPr>
          <a:lstStyle/>
          <a:p>
            <a:pPr algn="r"/>
            <a:r>
              <a:rPr sz="3400" b="1" i="0">
                <a:solidFill>
                  <a:srgbClr val="FFA500"/>
                </a:solidFill>
                <a:latin typeface="Calibri"/>
              </a:rPr>
              <a:t>2</a:t>
            </a:r>
          </a:p>
        </p:txBody>
      </p:sp>
      <p:sp>
        <p:nvSpPr>
          <p:cNvPr id="30" name="Rectangle 29"/>
          <p:cNvSpPr/>
          <p:nvPr/>
        </p:nvSpPr>
        <p:spPr>
          <a:xfrm>
            <a:off x="6263640" y="3931920"/>
            <a:ext cx="5394960" cy="868680"/>
          </a:xfrm>
          <a:prstGeom prst="rect">
            <a:avLst/>
          </a:prstGeom>
          <a:solidFill>
            <a:srgbClr val="0A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3977639"/>
            <a:ext cx="3200400" cy="411480"/>
          </a:xfrm>
          <a:prstGeom prst="rect">
            <a:avLst/>
          </a:prstGeom>
          <a:noFill/>
        </p:spPr>
        <p:txBody>
          <a:bodyPr wrap="square">
            <a:spAutoFit/>
          </a:bodyPr>
          <a:lstStyle/>
          <a:p>
            <a:pPr algn="l"/>
            <a:r>
              <a:rPr sz="1200" b="0" i="0">
                <a:solidFill>
                  <a:srgbClr val="8BADC8"/>
                </a:solidFill>
                <a:latin typeface="Calibri"/>
              </a:rPr>
              <a:t>Nós totais</a:t>
            </a:r>
          </a:p>
        </p:txBody>
      </p:sp>
      <p:sp>
        <p:nvSpPr>
          <p:cNvPr id="32" name="TextBox 31"/>
          <p:cNvSpPr txBox="1"/>
          <p:nvPr/>
        </p:nvSpPr>
        <p:spPr>
          <a:xfrm>
            <a:off x="9418320" y="3931920"/>
            <a:ext cx="1097280" cy="777240"/>
          </a:xfrm>
          <a:prstGeom prst="rect">
            <a:avLst/>
          </a:prstGeom>
          <a:noFill/>
        </p:spPr>
        <p:txBody>
          <a:bodyPr wrap="square">
            <a:spAutoFit/>
          </a:bodyPr>
          <a:lstStyle/>
          <a:p>
            <a:pPr algn="r"/>
            <a:r>
              <a:rPr sz="3400" b="1" i="0">
                <a:solidFill>
                  <a:srgbClr val="00B4D8"/>
                </a:solidFill>
                <a:latin typeface="Calibri"/>
              </a:rPr>
              <a:t>5</a:t>
            </a:r>
          </a:p>
        </p:txBody>
      </p:sp>
      <p:sp>
        <p:nvSpPr>
          <p:cNvPr id="33" name="TextBox 32"/>
          <p:cNvSpPr txBox="1"/>
          <p:nvPr/>
        </p:nvSpPr>
        <p:spPr>
          <a:xfrm>
            <a:off x="6309360" y="4937760"/>
            <a:ext cx="5394960" cy="731520"/>
          </a:xfrm>
          <a:prstGeom prst="rect">
            <a:avLst/>
          </a:prstGeom>
          <a:noFill/>
        </p:spPr>
        <p:txBody>
          <a:bodyPr wrap="square">
            <a:spAutoFit/>
          </a:bodyPr>
          <a:lstStyle/>
          <a:p>
            <a:pPr algn="ctr"/>
            <a:r>
              <a:rPr sz="1150" b="0" i="0">
                <a:solidFill>
                  <a:srgbClr val="8BADC8"/>
                </a:solidFill>
                <a:latin typeface="Calibri"/>
              </a:rPr>
              <a:t>3 classes  ·  4 atributos contínuos
Thresholds numéricos implementados manualmente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1005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1430000" cy="685800"/>
          </a:xfrm>
          <a:prstGeom prst="rect">
            <a:avLst/>
          </a:prstGeom>
          <a:noFill/>
        </p:spPr>
        <p:txBody>
          <a:bodyPr wrap="square">
            <a:spAutoFit/>
          </a:bodyPr>
          <a:lstStyle/>
          <a:p>
            <a:pPr algn="l"/>
            <a:r>
              <a:rPr sz="3000" b="1" i="0">
                <a:solidFill>
                  <a:srgbClr val="FFFFFF"/>
                </a:solidFill>
                <a:latin typeface="Calibri"/>
              </a:rPr>
              <a:t>Conclusões e Limitações</a:t>
            </a:r>
          </a:p>
        </p:txBody>
      </p:sp>
      <p:sp>
        <p:nvSpPr>
          <p:cNvPr id="6" name="Rectangle 5"/>
          <p:cNvSpPr/>
          <p:nvPr/>
        </p:nvSpPr>
        <p:spPr>
          <a:xfrm>
            <a:off x="365760" y="1143000"/>
            <a:ext cx="5394960" cy="5029200"/>
          </a:xfrm>
          <a:prstGeom prst="rect">
            <a:avLst/>
          </a:prstGeom>
          <a:solidFill>
            <a:srgbClr val="12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5029200" cy="502920"/>
          </a:xfrm>
          <a:prstGeom prst="rect">
            <a:avLst/>
          </a:prstGeom>
          <a:noFill/>
        </p:spPr>
        <p:txBody>
          <a:bodyPr wrap="square">
            <a:spAutoFit/>
          </a:bodyPr>
          <a:lstStyle/>
          <a:p>
            <a:pPr algn="l"/>
            <a:r>
              <a:rPr sz="1600" b="1" i="0">
                <a:solidFill>
                  <a:srgbClr val="06D68A"/>
                </a:solidFill>
                <a:latin typeface="Calibri"/>
              </a:rPr>
              <a:t>✅  Conclusões</a:t>
            </a:r>
          </a:p>
        </p:txBody>
      </p:sp>
      <p:sp>
        <p:nvSpPr>
          <p:cNvPr id="8" name="TextBox 7"/>
          <p:cNvSpPr txBox="1"/>
          <p:nvPr/>
        </p:nvSpPr>
        <p:spPr>
          <a:xfrm>
            <a:off x="548640" y="1783080"/>
            <a:ext cx="5029200" cy="4206240"/>
          </a:xfrm>
          <a:prstGeom prst="rect">
            <a:avLst/>
          </a:prstGeom>
          <a:noFill/>
        </p:spPr>
        <p:txBody>
          <a:bodyPr wrap="square">
            <a:spAutoFit/>
          </a:bodyPr>
          <a:lstStyle/>
          <a:p>
            <a:pPr algn="l"/>
            <a:r>
              <a:rPr sz="1300">
                <a:solidFill>
                  <a:srgbClr val="CAE0F5"/>
                </a:solidFill>
                <a:latin typeface="Calibri"/>
              </a:rPr>
              <a:t>MCTS é eficaz para jogos de estratégia</a:t>
            </a:r>
          </a:p>
          <a:p>
            <a:pPr algn="l"/>
            <a:r>
              <a:rPr sz="1300">
                <a:solidFill>
                  <a:srgbClr val="CAE0F5"/>
                </a:solidFill>
                <a:latin typeface="Calibri"/>
              </a:rPr>
              <a:t>A heurística de tabuleiro melhora significativamente o agente</a:t>
            </a:r>
          </a:p>
          <a:p>
            <a:pPr algn="l"/>
            <a:r>
              <a:rPr sz="1300">
                <a:solidFill>
                  <a:srgbClr val="CAE0F5"/>
                </a:solidFill>
                <a:latin typeface="Calibri"/>
              </a:rPr>
              <a:t>ID3 de raiz é implementável e funcional</a:t>
            </a:r>
          </a:p>
          <a:p>
            <a:pPr algn="l"/>
            <a:r>
              <a:rPr sz="1300">
                <a:solidFill>
                  <a:srgbClr val="CAE0F5"/>
                </a:solidFill>
                <a:latin typeface="Calibri"/>
              </a:rPr>
              <a:t>Accuracy 2× baseline com apenas 43 features brutas</a:t>
            </a:r>
          </a:p>
          <a:p>
            <a:pPr algn="l"/>
            <a:r>
              <a:rPr sz="1300">
                <a:solidFill>
                  <a:srgbClr val="CAE0F5"/>
                </a:solidFill>
                <a:latin typeface="Calibri"/>
              </a:rPr>
              <a:t>Iris valida a correção do algoritmo</a:t>
            </a:r>
          </a:p>
          <a:p>
            <a:pPr algn="l"/>
            <a:r>
              <a:rPr sz="1300">
                <a:solidFill>
                  <a:srgbClr val="CAE0F5"/>
                </a:solidFill>
                <a:latin typeface="Calibri"/>
              </a:rPr>
              <a:t>Pipeline completo — do jogo ao modelo supervisionado</a:t>
            </a:r>
          </a:p>
        </p:txBody>
      </p:sp>
      <p:sp>
        <p:nvSpPr>
          <p:cNvPr id="9" name="Rectangle 8"/>
          <p:cNvSpPr/>
          <p:nvPr/>
        </p:nvSpPr>
        <p:spPr>
          <a:xfrm>
            <a:off x="6035040" y="1143000"/>
            <a:ext cx="5760720" cy="5029200"/>
          </a:xfrm>
          <a:prstGeom prst="rect">
            <a:avLst/>
          </a:prstGeom>
          <a:solidFill>
            <a:srgbClr val="12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234440"/>
            <a:ext cx="5394960" cy="502920"/>
          </a:xfrm>
          <a:prstGeom prst="rect">
            <a:avLst/>
          </a:prstGeom>
          <a:noFill/>
        </p:spPr>
        <p:txBody>
          <a:bodyPr wrap="square">
            <a:spAutoFit/>
          </a:bodyPr>
          <a:lstStyle/>
          <a:p>
            <a:pPr algn="l"/>
            <a:r>
              <a:rPr sz="1600" b="1" i="0">
                <a:solidFill>
                  <a:srgbClr val="FFA500"/>
                </a:solidFill>
                <a:latin typeface="Calibri"/>
              </a:rPr>
              <a:t>⚠️  Limitações</a:t>
            </a:r>
          </a:p>
        </p:txBody>
      </p:sp>
      <p:sp>
        <p:nvSpPr>
          <p:cNvPr id="11" name="TextBox 10"/>
          <p:cNvSpPr txBox="1"/>
          <p:nvPr/>
        </p:nvSpPr>
        <p:spPr>
          <a:xfrm>
            <a:off x="6217920" y="1783080"/>
            <a:ext cx="5394960" cy="4206240"/>
          </a:xfrm>
          <a:prstGeom prst="rect">
            <a:avLst/>
          </a:prstGeom>
          <a:noFill/>
        </p:spPr>
        <p:txBody>
          <a:bodyPr wrap="square">
            <a:spAutoFit/>
          </a:bodyPr>
          <a:lstStyle/>
          <a:p>
            <a:pPr algn="l"/>
            <a:r>
              <a:rPr sz="1300">
                <a:solidFill>
                  <a:srgbClr val="CAE0F5"/>
                </a:solidFill>
                <a:latin typeface="Calibri"/>
              </a:rPr>
              <a:t>ID3 limitado a atributos discretos por natureza</a:t>
            </a:r>
          </a:p>
          <a:p>
            <a:pPr algn="l"/>
            <a:r>
              <a:rPr sz="1300">
                <a:solidFill>
                  <a:srgbClr val="CAE0F5"/>
                </a:solidFill>
                <a:latin typeface="Calibri"/>
              </a:rPr>
              <a:t>Features brutas do tabuleiro: sem engenharia de features</a:t>
            </a:r>
          </a:p>
          <a:p>
            <a:pPr algn="l"/>
            <a:r>
              <a:rPr sz="1300">
                <a:solidFill>
                  <a:srgbClr val="CAE0F5"/>
                </a:solidFill>
                <a:latin typeface="Calibri"/>
              </a:rPr>
              <a:t>Dataset gerado por um único agente (viés de política)</a:t>
            </a:r>
          </a:p>
          <a:p>
            <a:pPr algn="l"/>
            <a:r>
              <a:rPr sz="1300">
                <a:solidFill>
                  <a:srgbClr val="CAE0F5"/>
                </a:solidFill>
                <a:latin typeface="Calibri"/>
              </a:rPr>
              <a:t>14 classes torna o problema de classificação difícil</a:t>
            </a:r>
          </a:p>
          <a:p>
            <a:pPr algn="l"/>
            <a:r>
              <a:rPr sz="1300">
                <a:solidFill>
                  <a:srgbClr val="CAE0F5"/>
                </a:solidFill>
                <a:latin typeface="Calibri"/>
              </a:rPr>
              <a:t>Sem poda (pruning) na árvore de decisão</a:t>
            </a:r>
          </a:p>
          <a:p>
            <a:pPr algn="l"/>
            <a:r>
              <a:rPr sz="1300">
                <a:solidFill>
                  <a:srgbClr val="CAE0F5"/>
                </a:solidFill>
                <a:latin typeface="Calibri"/>
              </a:rPr>
              <a:t>MCTS sem paralelismo — tempo de cálculo elevado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1501</Words>
  <Application>Microsoft Office PowerPoint</Application>
  <PresentationFormat>Personalizados</PresentationFormat>
  <Paragraphs>151</Paragraphs>
  <Slides>10</Slides>
  <Notes>10</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10</vt:i4>
      </vt:variant>
    </vt:vector>
  </HeadingPairs>
  <TitlesOfParts>
    <vt:vector size="14" baseType="lpstr">
      <vt:lpstr>Arial</vt:lpstr>
      <vt:lpstr>Calibri</vt:lpstr>
      <vt:lpstr>Consolas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Pedro Ferreira</dc:creator>
  <cp:keywords/>
  <dc:description>generated using python-pptx</dc:description>
  <cp:lastModifiedBy>Pedro Ferreira</cp:lastModifiedBy>
  <cp:revision>2</cp:revision>
  <dcterms:created xsi:type="dcterms:W3CDTF">2013-01-27T09:14:16Z</dcterms:created>
  <dcterms:modified xsi:type="dcterms:W3CDTF">2026-05-17T14:58:01Z</dcterms:modified>
  <cp:category/>
</cp:coreProperties>
</file>